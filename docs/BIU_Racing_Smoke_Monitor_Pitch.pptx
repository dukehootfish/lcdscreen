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idea" id="{e00872bb-af92-7d11-337a-2b9f7d9715f0}">
          <p14:sldIdLst>
            <p14:sldId id="256"/>
            <p14:sldId id="257"/>
            <p14:sldId id="258"/>
          </p14:sldIdLst>
        </p14:section>
        <p14:section name="Demo" id="{7945d922-4e7d-3eaa-9248-7ef0701c1367}">
          <p14:sldIdLst>
            <p14:sldId id="259"/>
            <p14:sldId id="260"/>
          </p14:sldIdLst>
        </p14:section>
        <p14:section name="How it works" id="{49fa72a2-ecee-f2a7-00cd-3bcfa45dea67}">
          <p14:sldIdLst>
            <p14:sldId id="261"/>
            <p14:sldId id="262"/>
            <p14:sldId id="263"/>
            <p14:sldId id="264"/>
            <p14:sldId id="265"/>
          </p14:sldIdLst>
        </p14:section>
        <p14:section name="Wrap-up" id="{ecc12e42-9816-64e0-b4cc-630ab8673c64}">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we're from BIU Racing, and this is our hackathon project: a smoke and gas monitor.
It is a working prototype built on an STM32 Nucleo board, an MQ-2 gas sensor, a 16x2 LCD and a buzzer.
In the next few minutes: the problem, a live demo, how it works, and where we'd take it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a small gas leak or the first bit of smoke is easy to miss, especially when people are busy.
And a basic detector is all-or-nothing: it's silent until it screams, so you never see the air getting worse.
Early warning buys time to react. So our goal: a monitor that shows the air getting worse before it's dangerous, and can't be missed when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is one small board that does four jobs.
Sense: an MQ-2 gas sensor, sampled four times a second.
Show: a 16x2 LCD with a live level bar.
Warn: two alarm levels, Air Toxic and Air Very Toxic. Both beep the buzzer and flash the backlight until the air clears.
Log: the same USB cable we program it with also streams every reading to a laptop, which makes testing and calibration easy.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LCD shows in each state. The text matches what the firmware actually prints.
Power-up: the MQ-2 has a heater that needs time to settle, so for the first 10 seconds it shows a countdown and never alarms.
Normal: 'Air OK' with a level bar. Empty means clean air; it fills as smoke or gas builds up.
Toxic: from 2.0 volts the label changes to 'Air Toxic', and the buzzer and backlight flash together twice per second.
Very toxic: from 3.0 volts the bar would be full anyway, so the whole line becomes 'Air Very Toxic', with the same beep and flash.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We power it on: a short beep, then a 10-second warm-up countdown.
In clean air it shows Air OK with the bar near empty.
Now we bring gas or smoke close to the sensor, for example gas from an unlit lighter. Watch the bar climb. At 2.0 volts it switches to Air Toxic, and the buzzer and backlight start flashing. At 3.0 volts the whole line becomes Air Very Toxic.
When we take the gas away, notice it stays in alarm until the level drops below 1.8 volts: that's the hysteresis. The laptop shows every reading live, like the example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system.
The MQ-2 runs on 5 volts, so its analog output can go above what the STM32 can safely read. A 10k / 20k divider scales it down before it reaches pin A0.
The STM32G491 on the Nucleo board reads it with its 12-bit ADC, decides the state, and drives three outputs:
the LCD over I2C on D14/D15, the buzzer with a PWM signal on D3, and a laptop over the board's USB serial 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gauge shows the two alarm levels: Air Toxic from 2.0 volts and Air Very Toxic from 3.0 volts, where the level bar is full. These are the default values; we'll tune them in testing.
A smoke alarm that cries wolf gets ignored, so we also spent effort on avoiding false alarms.
One: the first 10 seconds after power-up are ignored while the heater settles.
Two: every reading is an average of 16 ADC samples.
Three: hysteresis. It trips at 2.0 volts and only clears below 1.8 volts, so a reading hovering at the threshold can't make it flicker.
Four: the bar's zero point comes from a real clean-air reading, so the bar only moves when the air actually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numbers.
It reads the sensor and refreshes the screen four times a second.
The level bar has 30 steps, because we draw each of its 6 characters one pixel column at a time with custom LCD characters.
The alarm tone is 2.5 kHz and beeps twice a second together with the backlight.
And the whole firmware is about 34 KB, under 7% of the chip's flash, so there is a lot of room to add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firmware is layered. The application logic in main.c only talks to three small drivers: MQ2 and BUZZER, which we wrote, and the open-source I2C_LCD driver from DeepBlueMbedded. Those sit on ST's HAL library.
That means we can swap a part, for example a different sensor or a bigger screen, by changing one driver.
All the tuning values live in one header file, MQ2.h, and the project builds with zero compiler warnings.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off-the-shelf. The Nucleo board, the MQ-2 module, a standard 16x2 LCD with an I2C backpack, a passive buzzer, and two resistors.
The one wiring detail that matters: the MQ-2 output must go through the 10k / 20k divider, never straight into A0, because it can reach 5 volts.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we are: the firmware is done. Sensing, the level bar, the two-level alarm and the USB logging all work in code and build cleanly.
Next is testing with real smoke and gas, which is also when we calibrate the clean-air baseline and both alarm levels.
Then we package it: a case, a USB power supply, and one setting on the chip (the BOOT0 option byte) so it always boots straight into our program when powered on.
Later ideas: phone alerts through a Wi-Fi or Bluetooth add-on module, a red/green status LED, and more sensors on the same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it's ready to demo, with sensing, the level bar, the two-level alarm and live logging all on one Nucleo board.
It gives early warning: you see the air getting worse, not just a beep when it's already too late.
And it's built to grow: modular drivers and under 7% of the flash used.
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6126480" cy="160020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548640" y="3794760"/>
            <a:ext cx="5943600" cy="914400"/>
          </a:xfrm>
          <a:prstGeom prst="rect">
            <a:avLst/>
          </a:prstGeom>
          <a:noFill/>
          <a:ln/>
        </p:spPr>
        <p:txBody>
          <a:bodyPr wrap="square" rtlCol="0"/>
          <a:lstStyle>
            <a:lvl1pPr indent="0" marL="0">
              <a:buNone/>
              <a:defRPr lang="en-US" sz="2000" dirty="0">
                <a:solidFill>
                  <a:schemeClr val="accent3"/>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BIU Racing Hackathon  ·  Smoke &amp; Gas Monitor</a:t>
            </a:r>
            <a:endParaRPr lang="en-US" sz="10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40080"/>
            <a:ext cx="11094415" cy="8686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1554480"/>
            <a:ext cx="11094415" cy="457200"/>
          </a:xfrm>
          <a:prstGeom prst="rect">
            <a:avLst/>
          </a:prstGeom>
          <a:noFill/>
          <a:ln/>
        </p:spPr>
        <p:txBody>
          <a:bodyPr wrap="square" rtlCol="0"/>
          <a:lstStyle>
            <a:lvl1pPr indent="0" marL="0">
              <a:buNone/>
              <a:defRPr lang="en-US" sz="2000" dirty="0">
                <a:solidFill>
                  <a:schemeClr val="accent3"/>
                </a:solidFill>
              </a:defRPr>
            </a:lvl1pPr>
          </a:lstStyle>
          <a:p>
            <a:pPr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508760"/>
            <a:ext cx="5943600" cy="320040"/>
          </a:xfrm>
          <a:prstGeom prst="rect">
            <a:avLst/>
          </a:prstGeom>
          <a:noFill/>
          <a:ln/>
        </p:spPr>
        <p:txBody>
          <a:bodyPr wrap="square" lIns="0" tIns="0" rIns="0" bIns="0" rtlCol="0" anchor="t"/>
          <a:lstStyle/>
          <a:p>
            <a:pPr indent="0" marL="0">
              <a:buNone/>
            </a:pPr>
            <a:r>
              <a:rPr lang="en-US" sz="1400" b="1" spc="300" kern="0" dirty="0">
                <a:solidFill>
                  <a:schemeClr val="accent1"/>
                </a:solidFill>
                <a:latin typeface="+mj-lt" pitchFamily="34" charset="0"/>
                <a:ea typeface="+mj-lt" pitchFamily="34" charset="-122"/>
                <a:cs typeface="+mj-lt" pitchFamily="34" charset="-120"/>
              </a:rPr>
              <a:t>BIU RACING  ·  HACKATHON PROJECT</a:t>
            </a:r>
            <a:endParaRPr lang="en-US" sz="1400" dirty="0"/>
          </a:p>
        </p:txBody>
      </p:sp>
      <p:sp>
        <p:nvSpPr>
          <p:cNvPr id="3" name="Text 0"/>
          <p:cNvSpPr/>
          <p:nvPr>
            <p:ph idx="100" type="title" hasCustomPrompt="1"/>
          </p:nvPr>
        </p:nvSpPr>
        <p:spPr>
          <a:xfrm>
            <a:off x="548640" y="2011680"/>
            <a:ext cx="6126480" cy="1600200"/>
          </a:xfrm>
          <a:prstGeom prst="rect">
            <a:avLst/>
          </a:prstGeom>
          <a:noFill/>
          <a:ln/>
        </p:spPr>
        <p:txBody>
          <a:bodyPr wrap="square" lIns="0" tIns="0" rIns="0" bIns="0" rtlCol="0" anchor="t"/>
          <a:lstStyle/>
          <a:p>
            <a:pPr algn="l" indent="0" marL="0">
              <a:buNone/>
            </a:pPr>
            <a:r>
              <a:rPr lang="en-US" sz="4800" b="1" dirty="0">
                <a:solidFill>
                  <a:schemeClr val="bg1"/>
                </a:solidFill>
              </a:rPr>
              <a:t>Smoke &amp; Gas Monitor</a:t>
            </a:r>
            <a:endParaRPr lang="en-US" sz="4800" dirty="0"/>
          </a:p>
        </p:txBody>
      </p:sp>
      <p:sp>
        <p:nvSpPr>
          <p:cNvPr id="4" name="Text 0"/>
          <p:cNvSpPr/>
          <p:nvPr>
            <p:ph idx="101" type="body" hasCustomPrompt="1"/>
          </p:nvPr>
        </p:nvSpPr>
        <p:spPr>
          <a:xfrm>
            <a:off x="548640" y="3794760"/>
            <a:ext cx="5943600" cy="914400"/>
          </a:xfrm>
          <a:prstGeom prst="rect">
            <a:avLst/>
          </a:prstGeom>
          <a:noFill/>
          <a:ln/>
        </p:spPr>
        <p:txBody>
          <a:bodyPr wrap="square" lIns="0" tIns="0" rIns="0" bIns="0" rtlCol="0" anchor="t"/>
          <a:lstStyle/>
          <a:p>
            <a:pPr indent="0" marL="0">
              <a:buNone/>
            </a:pPr>
            <a:r>
              <a:rPr lang="en-US" sz="2000" dirty="0">
                <a:solidFill>
                  <a:schemeClr val="accent3"/>
                </a:solidFill>
              </a:rPr>
              <a:t>An early-warning air sensor that senses smoke, shows how close the air is to toxic, and sounds the alarm</a:t>
            </a:r>
            <a:endParaRPr lang="en-US" sz="2000" dirty="0"/>
          </a:p>
        </p:txBody>
      </p:sp>
      <p:sp>
        <p:nvSpPr>
          <p:cNvPr id="5" name="Text 3"/>
          <p:cNvSpPr txBox="1"/>
          <p:nvPr/>
        </p:nvSpPr>
        <p:spPr>
          <a:xfrm>
            <a:off x="548640" y="5257800"/>
            <a:ext cx="6217920" cy="320040"/>
          </a:xfrm>
          <a:prstGeom prst="rect">
            <a:avLst/>
          </a:prstGeom>
          <a:noFill/>
          <a:ln/>
        </p:spPr>
        <p:txBody>
          <a:bodyPr wrap="square" lIns="0" tIns="0" rIns="0" bIns="0" rtlCol="0" anchor="t"/>
          <a:lstStyle/>
          <a:p>
            <a:pPr indent="0" marL="0">
              <a:buNone/>
            </a:pPr>
            <a:r>
              <a:rPr lang="en-US" sz="1400" dirty="0">
                <a:solidFill>
                  <a:schemeClr val="accent3"/>
                </a:solidFill>
              </a:rPr>
              <a:t>STM32 Nucleo-G491RE  ·  MQ-2 sensor  ·  16×2 I2C LCD  ·  PWM buzzer</a:t>
            </a:r>
            <a:endParaRPr lang="en-US" sz="1400" dirty="0"/>
          </a:p>
        </p:txBody>
      </p:sp>
      <p:sp>
        <p:nvSpPr>
          <p:cNvPr id="6" name="Hero LCD frame"/>
          <p:cNvSpPr/>
          <p:nvPr/>
        </p:nvSpPr>
        <p:spPr>
          <a:xfrm>
            <a:off x="7086600" y="2651760"/>
            <a:ext cx="4526280" cy="1771012"/>
          </a:xfrm>
          <a:prstGeom prst="roundRect">
            <a:avLst>
              <a:gd name="adj" fmla="val 6196"/>
            </a:avLst>
          </a:prstGeom>
          <a:solidFill>
            <a:schemeClr val="tx2"/>
          </a:solidFill>
          <a:ln/>
          <a:effectLst>
            <a:outerShdw sx="100000" sy="100000" kx="0" ky="0" algn="bl" rotWithShape="0" blurRad="76200" dist="25400" dir="5400000">
              <a:srgbClr val="000000">
                <a:alpha val="12000"/>
              </a:srgbClr>
            </a:outerShdw>
          </a:effectLst>
        </p:spPr>
      </p:sp>
      <p:sp>
        <p:nvSpPr>
          <p:cNvPr id="7" name="Hero LCD glass"/>
          <p:cNvSpPr/>
          <p:nvPr/>
        </p:nvSpPr>
        <p:spPr>
          <a:xfrm>
            <a:off x="7223760" y="2788920"/>
            <a:ext cx="4251960" cy="1496692"/>
          </a:xfrm>
          <a:prstGeom prst="rect">
            <a:avLst/>
          </a:prstGeom>
          <a:solidFill>
            <a:schemeClr val="accent4"/>
          </a:solidFill>
          <a:ln/>
        </p:spPr>
      </p:sp>
      <p:sp>
        <p:nvSpPr>
          <p:cNvPr id="8" name="Hero LCD line 1"/>
          <p:cNvSpPr txBox="1"/>
          <p:nvPr/>
        </p:nvSpPr>
        <p:spPr>
          <a:xfrm>
            <a:off x="7468424" y="3033584"/>
            <a:ext cx="3794760" cy="476250"/>
          </a:xfrm>
          <a:prstGeom prst="rect">
            <a:avLst/>
          </a:prstGeom>
          <a:noFill/>
          <a:ln/>
        </p:spPr>
        <p:txBody>
          <a:bodyPr wrap="none" lIns="0" tIns="0" rIns="0" bIns="0" rtlCol="0" anchor="ctr"/>
          <a:lstStyle/>
          <a:p>
            <a:pPr indent="0" marL="0">
              <a:buNone/>
            </a:pPr>
            <a:r>
              <a:rPr lang="en-US" sz="3000" dirty="0">
                <a:solidFill>
                  <a:schemeClr val="bg1"/>
                </a:solidFill>
                <a:latin typeface="Courier New" pitchFamily="34" charset="0"/>
                <a:ea typeface="Courier New" pitchFamily="34" charset="-122"/>
                <a:cs typeface="Courier New" pitchFamily="34" charset="-120"/>
              </a:rPr>
              <a:t>BIU Racing</a:t>
            </a:r>
            <a:endParaRPr lang="en-US" sz="3000" dirty="0"/>
          </a:p>
        </p:txBody>
      </p:sp>
      <p:sp>
        <p:nvSpPr>
          <p:cNvPr id="9" name="Hero LCD line 2"/>
          <p:cNvSpPr txBox="1"/>
          <p:nvPr/>
        </p:nvSpPr>
        <p:spPr>
          <a:xfrm>
            <a:off x="7468424" y="3564698"/>
            <a:ext cx="3794760" cy="476250"/>
          </a:xfrm>
          <a:prstGeom prst="rect">
            <a:avLst/>
          </a:prstGeom>
          <a:noFill/>
          <a:ln/>
        </p:spPr>
        <p:txBody>
          <a:bodyPr wrap="none" lIns="0" tIns="0" rIns="0" bIns="0" rtlCol="0" anchor="ctr"/>
          <a:lstStyle/>
          <a:p>
            <a:pPr indent="0" marL="0">
              <a:buNone/>
            </a:pPr>
            <a:r>
              <a:rPr lang="en-US" sz="3000" dirty="0">
                <a:solidFill>
                  <a:schemeClr val="bg1"/>
                </a:solidFill>
                <a:latin typeface="Courier New" pitchFamily="34" charset="0"/>
                <a:ea typeface="Courier New" pitchFamily="34" charset="-122"/>
                <a:cs typeface="Courier New" pitchFamily="34" charset="-120"/>
              </a:rPr>
              <a:t>Air OK</a:t>
            </a:r>
            <a:endParaRPr lang="en-US" sz="3000" dirty="0"/>
          </a:p>
        </p:txBody>
      </p:sp>
      <p:sp>
        <p:nvSpPr>
          <p:cNvPr id="10" name="Hero LCD bar frame"/>
          <p:cNvSpPr/>
          <p:nvPr/>
        </p:nvSpPr>
        <p:spPr>
          <a:xfrm>
            <a:off x="9772712" y="3650423"/>
            <a:ext cx="1335024" cy="304800"/>
          </a:xfrm>
          <a:prstGeom prst="rect">
            <a:avLst/>
          </a:prstGeom>
          <a:ln w="15875">
            <a:solidFill>
              <a:schemeClr val="bg1"/>
            </a:solidFill>
            <a:prstDash val="solid"/>
          </a:ln>
        </p:spPr>
      </p:sp>
      <p:sp>
        <p:nvSpPr>
          <p:cNvPr id="11" name="Hero LCD bar fill"/>
          <p:cNvSpPr/>
          <p:nvPr/>
        </p:nvSpPr>
        <p:spPr>
          <a:xfrm>
            <a:off x="9772712" y="3650423"/>
            <a:ext cx="489509" cy="304800"/>
          </a:xfrm>
          <a:prstGeom prst="rect">
            <a:avLst/>
          </a:prstGeom>
          <a:solidFill>
            <a:schemeClr val="bg1"/>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Smoke is easy to miss until it's serious</a:t>
            </a:r>
            <a:endParaRPr lang="en-US" sz="3600" dirty="0"/>
          </a:p>
        </p:txBody>
      </p:sp>
      <p:sp>
        <p:nvSpPr>
          <p:cNvPr id="3" name="Icon tile FaEyeSlash"/>
          <p:cNvSpPr/>
          <p:nvPr/>
        </p:nvSpPr>
        <p:spPr>
          <a:xfrm>
            <a:off x="548640" y="1600200"/>
            <a:ext cx="777240" cy="777240"/>
          </a:xfrm>
          <a:prstGeom prst="roundRect">
            <a:avLst>
              <a:gd name="adj" fmla="val 22000"/>
            </a:avLst>
          </a:prstGeom>
          <a:solidFill>
            <a:schemeClr val="tx1"/>
          </a:solidFill>
          <a:ln/>
        </p:spPr>
      </p:sp>
      <p:pic>
        <p:nvPicPr>
          <p:cNvPr id="4" name="Image 0" descr="FaEyeSlash">    </p:cNvPr>
          <p:cNvPicPr>
            <a:picLocks noChangeAspect="1"/>
          </p:cNvPicPr>
          <p:nvPr/>
        </p:nvPicPr>
        <p:blipFill>
          <a:blip r:embed="rId1"/>
          <a:stretch>
            <a:fillRect/>
          </a:stretch>
        </p:blipFill>
        <p:spPr>
          <a:xfrm>
            <a:off x="735178" y="1786738"/>
            <a:ext cx="404165" cy="404165"/>
          </a:xfrm>
          <a:prstGeom prst="rect">
            <a:avLst/>
          </a:prstGeom>
        </p:spPr>
      </p:pic>
      <p:sp>
        <p:nvSpPr>
          <p:cNvPr id="5" name="Text 2"/>
          <p:cNvSpPr txBox="1"/>
          <p:nvPr/>
        </p:nvSpPr>
        <p:spPr>
          <a:xfrm>
            <a:off x="1600200" y="1581912"/>
            <a:ext cx="5394960" cy="384048"/>
          </a:xfrm>
          <a:prstGeom prst="rect">
            <a:avLst/>
          </a:prstGeom>
          <a:noFill/>
          <a:ln/>
        </p:spPr>
        <p:txBody>
          <a:bodyPr wrap="square" lIns="0" tIns="0" rIns="0" bIns="0" rtlCol="0" anchor="t"/>
          <a:lstStyle/>
          <a:p>
            <a:pPr indent="0" marL="0">
              <a:buNone/>
            </a:pPr>
            <a:r>
              <a:rPr lang="en-US" sz="2100" b="1" dirty="0">
                <a:solidFill>
                  <a:schemeClr val="tx1"/>
                </a:solidFill>
                <a:latin typeface="+mj-lt" pitchFamily="34" charset="0"/>
                <a:ea typeface="+mj-lt" pitchFamily="34" charset="-122"/>
                <a:cs typeface="+mj-lt" pitchFamily="34" charset="-120"/>
              </a:rPr>
              <a:t>Hard to notice early</a:t>
            </a:r>
            <a:endParaRPr lang="en-US" sz="2100" dirty="0"/>
          </a:p>
        </p:txBody>
      </p:sp>
      <p:sp>
        <p:nvSpPr>
          <p:cNvPr id="6" name="Text 3"/>
          <p:cNvSpPr txBox="1"/>
          <p:nvPr/>
        </p:nvSpPr>
        <p:spPr>
          <a:xfrm>
            <a:off x="1600200" y="2011680"/>
            <a:ext cx="5394960" cy="777240"/>
          </a:xfrm>
          <a:prstGeom prst="rect">
            <a:avLst/>
          </a:prstGeom>
          <a:noFill/>
          <a:ln/>
        </p:spPr>
        <p:txBody>
          <a:bodyPr wrap="square" lIns="0" tIns="0" rIns="0" bIns="0" rtlCol="0" anchor="t"/>
          <a:lstStyle/>
          <a:p>
            <a:pPr indent="0" marL="0">
              <a:buNone/>
            </a:pPr>
            <a:r>
              <a:rPr lang="en-US" sz="1600" dirty="0">
                <a:solidFill>
                  <a:schemeClr val="accent6"/>
                </a:solidFill>
              </a:rPr>
              <a:t>A small gas leak or the first wisp of smoke is easy to miss, especially in a busy room.</a:t>
            </a:r>
            <a:endParaRPr lang="en-US" sz="1600" dirty="0"/>
          </a:p>
        </p:txBody>
      </p:sp>
      <p:sp>
        <p:nvSpPr>
          <p:cNvPr id="7" name="Icon tile FaGauge"/>
          <p:cNvSpPr/>
          <p:nvPr/>
        </p:nvSpPr>
        <p:spPr>
          <a:xfrm>
            <a:off x="548640" y="3063240"/>
            <a:ext cx="777240" cy="777240"/>
          </a:xfrm>
          <a:prstGeom prst="roundRect">
            <a:avLst>
              <a:gd name="adj" fmla="val 22000"/>
            </a:avLst>
          </a:prstGeom>
          <a:solidFill>
            <a:schemeClr val="tx1"/>
          </a:solidFill>
          <a:ln/>
        </p:spPr>
      </p:sp>
      <p:pic>
        <p:nvPicPr>
          <p:cNvPr id="8" name="Image 1" descr="FaGauge">    </p:cNvPr>
          <p:cNvPicPr>
            <a:picLocks noChangeAspect="1"/>
          </p:cNvPicPr>
          <p:nvPr/>
        </p:nvPicPr>
        <p:blipFill>
          <a:blip r:embed="rId2"/>
          <a:stretch>
            <a:fillRect/>
          </a:stretch>
        </p:blipFill>
        <p:spPr>
          <a:xfrm>
            <a:off x="735178" y="3249778"/>
            <a:ext cx="404165" cy="404165"/>
          </a:xfrm>
          <a:prstGeom prst="rect">
            <a:avLst/>
          </a:prstGeom>
        </p:spPr>
      </p:pic>
      <p:sp>
        <p:nvSpPr>
          <p:cNvPr id="9" name="Text 5"/>
          <p:cNvSpPr txBox="1"/>
          <p:nvPr/>
        </p:nvSpPr>
        <p:spPr>
          <a:xfrm>
            <a:off x="1600200" y="3044952"/>
            <a:ext cx="5394960" cy="384048"/>
          </a:xfrm>
          <a:prstGeom prst="rect">
            <a:avLst/>
          </a:prstGeom>
          <a:noFill/>
          <a:ln/>
        </p:spPr>
        <p:txBody>
          <a:bodyPr wrap="square" lIns="0" tIns="0" rIns="0" bIns="0" rtlCol="0" anchor="t"/>
          <a:lstStyle/>
          <a:p>
            <a:pPr indent="0" marL="0">
              <a:buNone/>
            </a:pPr>
            <a:r>
              <a:rPr lang="en-US" sz="2100" b="1" dirty="0">
                <a:solidFill>
                  <a:schemeClr val="tx1"/>
                </a:solidFill>
                <a:latin typeface="+mj-lt" pitchFamily="34" charset="0"/>
                <a:ea typeface="+mj-lt" pitchFamily="34" charset="-122"/>
                <a:cs typeface="+mj-lt" pitchFamily="34" charset="-120"/>
              </a:rPr>
              <a:t>All-or-nothing alarms</a:t>
            </a:r>
            <a:endParaRPr lang="en-US" sz="2100" dirty="0"/>
          </a:p>
        </p:txBody>
      </p:sp>
      <p:sp>
        <p:nvSpPr>
          <p:cNvPr id="10" name="Text 6"/>
          <p:cNvSpPr txBox="1"/>
          <p:nvPr/>
        </p:nvSpPr>
        <p:spPr>
          <a:xfrm>
            <a:off x="1600200" y="3474720"/>
            <a:ext cx="5394960" cy="777240"/>
          </a:xfrm>
          <a:prstGeom prst="rect">
            <a:avLst/>
          </a:prstGeom>
          <a:noFill/>
          <a:ln/>
        </p:spPr>
        <p:txBody>
          <a:bodyPr wrap="square" lIns="0" tIns="0" rIns="0" bIns="0" rtlCol="0" anchor="t"/>
          <a:lstStyle/>
          <a:p>
            <a:pPr indent="0" marL="0">
              <a:buNone/>
            </a:pPr>
            <a:r>
              <a:rPr lang="en-US" sz="1600" dirty="0">
                <a:solidFill>
                  <a:schemeClr val="accent6"/>
                </a:solidFill>
              </a:rPr>
              <a:t>A basic detector stays silent until it screams. You can't see the air getting worse.</a:t>
            </a:r>
            <a:endParaRPr lang="en-US" sz="1600" dirty="0"/>
          </a:p>
        </p:txBody>
      </p:sp>
      <p:sp>
        <p:nvSpPr>
          <p:cNvPr id="11" name="Icon tile FaStopwatch"/>
          <p:cNvSpPr/>
          <p:nvPr/>
        </p:nvSpPr>
        <p:spPr>
          <a:xfrm>
            <a:off x="548640" y="4526280"/>
            <a:ext cx="777240" cy="777240"/>
          </a:xfrm>
          <a:prstGeom prst="roundRect">
            <a:avLst>
              <a:gd name="adj" fmla="val 22000"/>
            </a:avLst>
          </a:prstGeom>
          <a:solidFill>
            <a:schemeClr val="tx1"/>
          </a:solidFill>
          <a:ln/>
        </p:spPr>
      </p:sp>
      <p:pic>
        <p:nvPicPr>
          <p:cNvPr id="12" name="Image 2" descr="FaStopwatch">    </p:cNvPr>
          <p:cNvPicPr>
            <a:picLocks noChangeAspect="1"/>
          </p:cNvPicPr>
          <p:nvPr/>
        </p:nvPicPr>
        <p:blipFill>
          <a:blip r:embed="rId3"/>
          <a:stretch>
            <a:fillRect/>
          </a:stretch>
        </p:blipFill>
        <p:spPr>
          <a:xfrm>
            <a:off x="735178" y="4712818"/>
            <a:ext cx="404165" cy="404165"/>
          </a:xfrm>
          <a:prstGeom prst="rect">
            <a:avLst/>
          </a:prstGeom>
        </p:spPr>
      </p:pic>
      <p:sp>
        <p:nvSpPr>
          <p:cNvPr id="13" name="Text 8"/>
          <p:cNvSpPr txBox="1"/>
          <p:nvPr/>
        </p:nvSpPr>
        <p:spPr>
          <a:xfrm>
            <a:off x="1600200" y="4507992"/>
            <a:ext cx="5394960" cy="384048"/>
          </a:xfrm>
          <a:prstGeom prst="rect">
            <a:avLst/>
          </a:prstGeom>
          <a:noFill/>
          <a:ln/>
        </p:spPr>
        <p:txBody>
          <a:bodyPr wrap="square" lIns="0" tIns="0" rIns="0" bIns="0" rtlCol="0" anchor="t"/>
          <a:lstStyle/>
          <a:p>
            <a:pPr indent="0" marL="0">
              <a:buNone/>
            </a:pPr>
            <a:r>
              <a:rPr lang="en-US" sz="2100" b="1" dirty="0">
                <a:solidFill>
                  <a:schemeClr val="tx1"/>
                </a:solidFill>
                <a:latin typeface="+mj-lt" pitchFamily="34" charset="0"/>
                <a:ea typeface="+mj-lt" pitchFamily="34" charset="-122"/>
                <a:cs typeface="+mj-lt" pitchFamily="34" charset="-120"/>
              </a:rPr>
              <a:t>Seconds matter</a:t>
            </a:r>
            <a:endParaRPr lang="en-US" sz="2100" dirty="0"/>
          </a:p>
        </p:txBody>
      </p:sp>
      <p:sp>
        <p:nvSpPr>
          <p:cNvPr id="14" name="Text 9"/>
          <p:cNvSpPr txBox="1"/>
          <p:nvPr/>
        </p:nvSpPr>
        <p:spPr>
          <a:xfrm>
            <a:off x="1600200" y="4937760"/>
            <a:ext cx="5394960" cy="777240"/>
          </a:xfrm>
          <a:prstGeom prst="rect">
            <a:avLst/>
          </a:prstGeom>
          <a:noFill/>
          <a:ln/>
        </p:spPr>
        <p:txBody>
          <a:bodyPr wrap="square" lIns="0" tIns="0" rIns="0" bIns="0" rtlCol="0" anchor="t"/>
          <a:lstStyle/>
          <a:p>
            <a:pPr indent="0" marL="0">
              <a:buNone/>
            </a:pPr>
            <a:r>
              <a:rPr lang="en-US" sz="1600" dirty="0">
                <a:solidFill>
                  <a:schemeClr val="accent6"/>
                </a:solidFill>
              </a:rPr>
              <a:t>The earlier someone knows, the more options they have: ventilate, shut off the source, step out.</a:t>
            </a:r>
            <a:endParaRPr lang="en-US" sz="1600" dirty="0"/>
          </a:p>
        </p:txBody>
      </p:sp>
      <p:sp>
        <p:nvSpPr>
          <p:cNvPr id="15" name="Goal card"/>
          <p:cNvSpPr/>
          <p:nvPr/>
        </p:nvSpPr>
        <p:spPr>
          <a:xfrm>
            <a:off x="7315200" y="1600200"/>
            <a:ext cx="4327855" cy="4206240"/>
          </a:xfrm>
          <a:prstGeom prst="roundRect">
            <a:avLst>
              <a:gd name="adj" fmla="val 3261"/>
            </a:avLst>
          </a:prstGeom>
          <a:solidFill>
            <a:schemeClr val="tx1"/>
          </a:solidFill>
          <a:ln/>
        </p:spPr>
      </p:sp>
      <p:sp>
        <p:nvSpPr>
          <p:cNvPr id="16" name="Icon tile FaBell"/>
          <p:cNvSpPr/>
          <p:nvPr/>
        </p:nvSpPr>
        <p:spPr>
          <a:xfrm>
            <a:off x="7726680" y="2011680"/>
            <a:ext cx="777240" cy="777240"/>
          </a:xfrm>
          <a:prstGeom prst="roundRect">
            <a:avLst>
              <a:gd name="adj" fmla="val 22000"/>
            </a:avLst>
          </a:prstGeom>
          <a:solidFill>
            <a:schemeClr val="tx2"/>
          </a:solidFill>
          <a:ln/>
        </p:spPr>
      </p:sp>
      <p:pic>
        <p:nvPicPr>
          <p:cNvPr id="17" name="Image 3" descr="FaBell">    </p:cNvPr>
          <p:cNvPicPr>
            <a:picLocks noChangeAspect="1"/>
          </p:cNvPicPr>
          <p:nvPr/>
        </p:nvPicPr>
        <p:blipFill>
          <a:blip r:embed="rId4"/>
          <a:stretch>
            <a:fillRect/>
          </a:stretch>
        </p:blipFill>
        <p:spPr>
          <a:xfrm>
            <a:off x="7913218" y="2198218"/>
            <a:ext cx="404165" cy="404165"/>
          </a:xfrm>
          <a:prstGeom prst="rect">
            <a:avLst/>
          </a:prstGeom>
        </p:spPr>
      </p:pic>
      <p:sp>
        <p:nvSpPr>
          <p:cNvPr id="18" name="Text 12"/>
          <p:cNvSpPr txBox="1"/>
          <p:nvPr/>
        </p:nvSpPr>
        <p:spPr>
          <a:xfrm>
            <a:off x="7726680" y="3063240"/>
            <a:ext cx="3474720" cy="320040"/>
          </a:xfrm>
          <a:prstGeom prst="rect">
            <a:avLst/>
          </a:prstGeom>
          <a:noFill/>
          <a:ln/>
        </p:spPr>
        <p:txBody>
          <a:bodyPr wrap="square" lIns="0" tIns="0" rIns="0" bIns="0" rtlCol="0" anchor="t"/>
          <a:lstStyle/>
          <a:p>
            <a:pPr indent="0" marL="0">
              <a:buNone/>
            </a:pPr>
            <a:r>
              <a:rPr lang="en-US" sz="1400" b="1" spc="300" kern="0" dirty="0">
                <a:solidFill>
                  <a:schemeClr val="accent1"/>
                </a:solidFill>
                <a:latin typeface="+mj-lt" pitchFamily="34" charset="0"/>
                <a:ea typeface="+mj-lt" pitchFamily="34" charset="-122"/>
                <a:cs typeface="+mj-lt" pitchFamily="34" charset="-120"/>
              </a:rPr>
              <a:t>THE GOAL</a:t>
            </a:r>
            <a:endParaRPr lang="en-US" sz="1400" dirty="0"/>
          </a:p>
        </p:txBody>
      </p:sp>
      <p:sp>
        <p:nvSpPr>
          <p:cNvPr id="19" name="Text 13"/>
          <p:cNvSpPr txBox="1"/>
          <p:nvPr/>
        </p:nvSpPr>
        <p:spPr>
          <a:xfrm>
            <a:off x="7726680" y="3474720"/>
            <a:ext cx="3520440" cy="2011680"/>
          </a:xfrm>
          <a:prstGeom prst="rect">
            <a:avLst/>
          </a:prstGeom>
          <a:noFill/>
          <a:ln/>
        </p:spPr>
        <p:txBody>
          <a:bodyPr wrap="square" lIns="0" tIns="0" rIns="0" bIns="0" rtlCol="0" anchor="t"/>
          <a:lstStyle/>
          <a:p>
            <a:pPr indent="0" marL="0">
              <a:buNone/>
            </a:pPr>
            <a:r>
              <a:rPr lang="en-US" sz="2400" b="1" dirty="0">
                <a:solidFill>
                  <a:schemeClr val="bg1"/>
                </a:solidFill>
                <a:latin typeface="+mj-lt" pitchFamily="34" charset="0"/>
                <a:ea typeface="+mj-lt" pitchFamily="34" charset="-122"/>
                <a:cs typeface="+mj-lt" pitchFamily="34" charset="-120"/>
              </a:rPr>
              <a:t>A monitor that shows the air getting worse before it's dangerous, and can't be missed when it is.</a:t>
            </a:r>
            <a:endParaRPr lang="en-US" sz="2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One small board that senses, shows and warns</a:t>
            </a:r>
            <a:endParaRPr lang="en-US" sz="3600" dirty="0"/>
          </a:p>
        </p:txBody>
      </p:sp>
      <p:sp>
        <p:nvSpPr>
          <p:cNvPr id="3" name="Sense card"/>
          <p:cNvSpPr/>
          <p:nvPr/>
        </p:nvSpPr>
        <p:spPr>
          <a:xfrm>
            <a:off x="548640" y="1600200"/>
            <a:ext cx="2567864" cy="3886200"/>
          </a:xfrm>
          <a:prstGeom prst="roundRect">
            <a:avLst>
              <a:gd name="adj" fmla="val 5341"/>
            </a:avLst>
          </a:prstGeom>
          <a:solidFill>
            <a:schemeClr val="bg2"/>
          </a:solidFill>
          <a:ln/>
        </p:spPr>
      </p:sp>
      <p:sp>
        <p:nvSpPr>
          <p:cNvPr id="4" name="Icon tile FaSmog"/>
          <p:cNvSpPr/>
          <p:nvPr/>
        </p:nvSpPr>
        <p:spPr>
          <a:xfrm>
            <a:off x="822960" y="1920240"/>
            <a:ext cx="777240" cy="777240"/>
          </a:xfrm>
          <a:prstGeom prst="roundRect">
            <a:avLst>
              <a:gd name="adj" fmla="val 22000"/>
            </a:avLst>
          </a:prstGeom>
          <a:solidFill>
            <a:schemeClr val="tx1"/>
          </a:solidFill>
          <a:ln/>
        </p:spPr>
      </p:sp>
      <p:pic>
        <p:nvPicPr>
          <p:cNvPr id="5" name="Image 0" descr="FaSmog">    </p:cNvPr>
          <p:cNvPicPr>
            <a:picLocks noChangeAspect="1"/>
          </p:cNvPicPr>
          <p:nvPr/>
        </p:nvPicPr>
        <p:blipFill>
          <a:blip r:embed="rId1"/>
          <a:stretch>
            <a:fillRect/>
          </a:stretch>
        </p:blipFill>
        <p:spPr>
          <a:xfrm>
            <a:off x="1009498" y="2106778"/>
            <a:ext cx="404165" cy="404165"/>
          </a:xfrm>
          <a:prstGeom prst="rect">
            <a:avLst/>
          </a:prstGeom>
        </p:spPr>
      </p:pic>
      <p:sp>
        <p:nvSpPr>
          <p:cNvPr id="6" name="Text 3"/>
          <p:cNvSpPr txBox="1"/>
          <p:nvPr/>
        </p:nvSpPr>
        <p:spPr>
          <a:xfrm>
            <a:off x="822960" y="2971800"/>
            <a:ext cx="2019224" cy="457200"/>
          </a:xfrm>
          <a:prstGeom prst="rect">
            <a:avLst/>
          </a:prstGeom>
          <a:noFill/>
          <a:ln/>
        </p:spPr>
        <p:txBody>
          <a:bodyPr wrap="square" lIns="0" tIns="0" rIns="0" bIns="0" rtlCol="0" anchor="t"/>
          <a:lstStyle/>
          <a:p>
            <a:pPr indent="0" marL="0">
              <a:buNone/>
            </a:pPr>
            <a:r>
              <a:rPr lang="en-US" sz="2600" b="1" dirty="0">
                <a:solidFill>
                  <a:schemeClr val="tx1"/>
                </a:solidFill>
                <a:latin typeface="+mj-lt" pitchFamily="34" charset="0"/>
                <a:ea typeface="+mj-lt" pitchFamily="34" charset="-122"/>
                <a:cs typeface="+mj-lt" pitchFamily="34" charset="-120"/>
              </a:rPr>
              <a:t>Sense</a:t>
            </a:r>
            <a:endParaRPr lang="en-US" sz="2600" dirty="0"/>
          </a:p>
        </p:txBody>
      </p:sp>
      <p:sp>
        <p:nvSpPr>
          <p:cNvPr id="7" name="Text 4"/>
          <p:cNvSpPr txBox="1"/>
          <p:nvPr/>
        </p:nvSpPr>
        <p:spPr>
          <a:xfrm>
            <a:off x="822960" y="3566160"/>
            <a:ext cx="2019224" cy="1737360"/>
          </a:xfrm>
          <a:prstGeom prst="rect">
            <a:avLst/>
          </a:prstGeom>
          <a:noFill/>
          <a:ln/>
        </p:spPr>
        <p:txBody>
          <a:bodyPr wrap="square" lIns="0" tIns="0" rIns="0" bIns="0" rtlCol="0" anchor="t"/>
          <a:lstStyle/>
          <a:p>
            <a:pPr indent="0" marL="0">
              <a:buNone/>
            </a:pPr>
            <a:r>
              <a:rPr lang="en-US" sz="1800" dirty="0">
                <a:solidFill>
                  <a:schemeClr val="accent6"/>
                </a:solidFill>
              </a:rPr>
              <a:t>An MQ-2 sensor reads smoke and combustible gas (LPG, propane, methane, hydrogen) four times a second.</a:t>
            </a:r>
            <a:endParaRPr lang="en-US" sz="1800" dirty="0"/>
          </a:p>
        </p:txBody>
      </p:sp>
      <p:sp>
        <p:nvSpPr>
          <p:cNvPr id="8" name="Show card"/>
          <p:cNvSpPr/>
          <p:nvPr/>
        </p:nvSpPr>
        <p:spPr>
          <a:xfrm>
            <a:off x="3390824" y="1600200"/>
            <a:ext cx="2567864" cy="3886200"/>
          </a:xfrm>
          <a:prstGeom prst="roundRect">
            <a:avLst>
              <a:gd name="adj" fmla="val 5341"/>
            </a:avLst>
          </a:prstGeom>
          <a:solidFill>
            <a:schemeClr val="bg2"/>
          </a:solidFill>
          <a:ln/>
        </p:spPr>
      </p:sp>
      <p:sp>
        <p:nvSpPr>
          <p:cNvPr id="9" name="Icon tile FaDisplay"/>
          <p:cNvSpPr/>
          <p:nvPr/>
        </p:nvSpPr>
        <p:spPr>
          <a:xfrm>
            <a:off x="3665144" y="1920240"/>
            <a:ext cx="777240" cy="777240"/>
          </a:xfrm>
          <a:prstGeom prst="roundRect">
            <a:avLst>
              <a:gd name="adj" fmla="val 22000"/>
            </a:avLst>
          </a:prstGeom>
          <a:solidFill>
            <a:schemeClr val="tx1"/>
          </a:solidFill>
          <a:ln/>
        </p:spPr>
      </p:sp>
      <p:pic>
        <p:nvPicPr>
          <p:cNvPr id="10" name="Image 1" descr="FaDisplay">    </p:cNvPr>
          <p:cNvPicPr>
            <a:picLocks noChangeAspect="1"/>
          </p:cNvPicPr>
          <p:nvPr/>
        </p:nvPicPr>
        <p:blipFill>
          <a:blip r:embed="rId2"/>
          <a:stretch>
            <a:fillRect/>
          </a:stretch>
        </p:blipFill>
        <p:spPr>
          <a:xfrm>
            <a:off x="3851681" y="2106778"/>
            <a:ext cx="404165" cy="404165"/>
          </a:xfrm>
          <a:prstGeom prst="rect">
            <a:avLst/>
          </a:prstGeom>
        </p:spPr>
      </p:pic>
      <p:sp>
        <p:nvSpPr>
          <p:cNvPr id="11" name="Text 7"/>
          <p:cNvSpPr txBox="1"/>
          <p:nvPr/>
        </p:nvSpPr>
        <p:spPr>
          <a:xfrm>
            <a:off x="3665144" y="2971800"/>
            <a:ext cx="2019224" cy="457200"/>
          </a:xfrm>
          <a:prstGeom prst="rect">
            <a:avLst/>
          </a:prstGeom>
          <a:noFill/>
          <a:ln/>
        </p:spPr>
        <p:txBody>
          <a:bodyPr wrap="square" lIns="0" tIns="0" rIns="0" bIns="0" rtlCol="0" anchor="t"/>
          <a:lstStyle/>
          <a:p>
            <a:pPr indent="0" marL="0">
              <a:buNone/>
            </a:pPr>
            <a:r>
              <a:rPr lang="en-US" sz="2600" b="1" dirty="0">
                <a:solidFill>
                  <a:schemeClr val="tx1"/>
                </a:solidFill>
                <a:latin typeface="+mj-lt" pitchFamily="34" charset="0"/>
                <a:ea typeface="+mj-lt" pitchFamily="34" charset="-122"/>
                <a:cs typeface="+mj-lt" pitchFamily="34" charset="-120"/>
              </a:rPr>
              <a:t>Show</a:t>
            </a:r>
            <a:endParaRPr lang="en-US" sz="2600" dirty="0"/>
          </a:p>
        </p:txBody>
      </p:sp>
      <p:sp>
        <p:nvSpPr>
          <p:cNvPr id="12" name="Text 8"/>
          <p:cNvSpPr txBox="1"/>
          <p:nvPr/>
        </p:nvSpPr>
        <p:spPr>
          <a:xfrm>
            <a:off x="3665144" y="3566160"/>
            <a:ext cx="2019224" cy="1737360"/>
          </a:xfrm>
          <a:prstGeom prst="rect">
            <a:avLst/>
          </a:prstGeom>
          <a:noFill/>
          <a:ln/>
        </p:spPr>
        <p:txBody>
          <a:bodyPr wrap="square" lIns="0" tIns="0" rIns="0" bIns="0" rtlCol="0" anchor="t"/>
          <a:lstStyle/>
          <a:p>
            <a:pPr indent="0" marL="0">
              <a:buNone/>
            </a:pPr>
            <a:r>
              <a:rPr lang="en-US" sz="1800" dirty="0">
                <a:solidFill>
                  <a:schemeClr val="accent6"/>
                </a:solidFill>
              </a:rPr>
              <a:t>A 16×2 screen shows the air status and a live bar that fills as the air gets worse.</a:t>
            </a:r>
            <a:endParaRPr lang="en-US" sz="1800" dirty="0"/>
          </a:p>
        </p:txBody>
      </p:sp>
      <p:sp>
        <p:nvSpPr>
          <p:cNvPr id="13" name="Warn card"/>
          <p:cNvSpPr/>
          <p:nvPr/>
        </p:nvSpPr>
        <p:spPr>
          <a:xfrm>
            <a:off x="6233008" y="1600200"/>
            <a:ext cx="2567864" cy="3886200"/>
          </a:xfrm>
          <a:prstGeom prst="roundRect">
            <a:avLst>
              <a:gd name="adj" fmla="val 5341"/>
            </a:avLst>
          </a:prstGeom>
          <a:solidFill>
            <a:schemeClr val="bg2"/>
          </a:solidFill>
          <a:ln/>
        </p:spPr>
      </p:sp>
      <p:sp>
        <p:nvSpPr>
          <p:cNvPr id="14" name="Icon tile FaVolumeHigh"/>
          <p:cNvSpPr/>
          <p:nvPr/>
        </p:nvSpPr>
        <p:spPr>
          <a:xfrm>
            <a:off x="6507328" y="1920240"/>
            <a:ext cx="777240" cy="777240"/>
          </a:xfrm>
          <a:prstGeom prst="roundRect">
            <a:avLst>
              <a:gd name="adj" fmla="val 22000"/>
            </a:avLst>
          </a:prstGeom>
          <a:solidFill>
            <a:schemeClr val="tx1"/>
          </a:solidFill>
          <a:ln/>
        </p:spPr>
      </p:sp>
      <p:pic>
        <p:nvPicPr>
          <p:cNvPr id="15" name="Image 2" descr="FaVolumeHigh">    </p:cNvPr>
          <p:cNvPicPr>
            <a:picLocks noChangeAspect="1"/>
          </p:cNvPicPr>
          <p:nvPr/>
        </p:nvPicPr>
        <p:blipFill>
          <a:blip r:embed="rId3"/>
          <a:stretch>
            <a:fillRect/>
          </a:stretch>
        </p:blipFill>
        <p:spPr>
          <a:xfrm>
            <a:off x="6693865" y="2106778"/>
            <a:ext cx="404165" cy="404165"/>
          </a:xfrm>
          <a:prstGeom prst="rect">
            <a:avLst/>
          </a:prstGeom>
        </p:spPr>
      </p:pic>
      <p:sp>
        <p:nvSpPr>
          <p:cNvPr id="16" name="Text 11"/>
          <p:cNvSpPr txBox="1"/>
          <p:nvPr/>
        </p:nvSpPr>
        <p:spPr>
          <a:xfrm>
            <a:off x="6507328" y="2971800"/>
            <a:ext cx="2019224" cy="457200"/>
          </a:xfrm>
          <a:prstGeom prst="rect">
            <a:avLst/>
          </a:prstGeom>
          <a:noFill/>
          <a:ln/>
        </p:spPr>
        <p:txBody>
          <a:bodyPr wrap="square" lIns="0" tIns="0" rIns="0" bIns="0" rtlCol="0" anchor="t"/>
          <a:lstStyle/>
          <a:p>
            <a:pPr indent="0" marL="0">
              <a:buNone/>
            </a:pPr>
            <a:r>
              <a:rPr lang="en-US" sz="2600" b="1" dirty="0">
                <a:solidFill>
                  <a:schemeClr val="tx1"/>
                </a:solidFill>
                <a:latin typeface="+mj-lt" pitchFamily="34" charset="0"/>
                <a:ea typeface="+mj-lt" pitchFamily="34" charset="-122"/>
                <a:cs typeface="+mj-lt" pitchFamily="34" charset="-120"/>
              </a:rPr>
              <a:t>Warn</a:t>
            </a:r>
            <a:endParaRPr lang="en-US" sz="2600" dirty="0"/>
          </a:p>
        </p:txBody>
      </p:sp>
      <p:sp>
        <p:nvSpPr>
          <p:cNvPr id="17" name="Text 12"/>
          <p:cNvSpPr txBox="1"/>
          <p:nvPr/>
        </p:nvSpPr>
        <p:spPr>
          <a:xfrm>
            <a:off x="6507328" y="3566160"/>
            <a:ext cx="2019224" cy="1737360"/>
          </a:xfrm>
          <a:prstGeom prst="rect">
            <a:avLst/>
          </a:prstGeom>
          <a:noFill/>
          <a:ln/>
        </p:spPr>
        <p:txBody>
          <a:bodyPr wrap="square" lIns="0" tIns="0" rIns="0" bIns="0" rtlCol="0" anchor="t"/>
          <a:lstStyle/>
          <a:p>
            <a:pPr indent="0" marL="0">
              <a:buNone/>
            </a:pPr>
            <a:r>
              <a:rPr lang="en-US" sz="1800" dirty="0">
                <a:solidFill>
                  <a:schemeClr val="accent6"/>
                </a:solidFill>
              </a:rPr>
              <a:t>Two alarm levels, Air Toxic and Air Very Toxic: the buzzer beeps and the backlight flashes until the air clears.</a:t>
            </a:r>
            <a:endParaRPr lang="en-US" sz="1800" dirty="0"/>
          </a:p>
        </p:txBody>
      </p:sp>
      <p:sp>
        <p:nvSpPr>
          <p:cNvPr id="18" name="Log card"/>
          <p:cNvSpPr/>
          <p:nvPr/>
        </p:nvSpPr>
        <p:spPr>
          <a:xfrm>
            <a:off x="9075191" y="1600200"/>
            <a:ext cx="2567864" cy="3886200"/>
          </a:xfrm>
          <a:prstGeom prst="roundRect">
            <a:avLst>
              <a:gd name="adj" fmla="val 5341"/>
            </a:avLst>
          </a:prstGeom>
          <a:solidFill>
            <a:schemeClr val="bg2"/>
          </a:solidFill>
          <a:ln/>
        </p:spPr>
      </p:sp>
      <p:sp>
        <p:nvSpPr>
          <p:cNvPr id="19" name="Icon tile FaLaptop"/>
          <p:cNvSpPr/>
          <p:nvPr/>
        </p:nvSpPr>
        <p:spPr>
          <a:xfrm>
            <a:off x="9349511" y="1920240"/>
            <a:ext cx="777240" cy="777240"/>
          </a:xfrm>
          <a:prstGeom prst="roundRect">
            <a:avLst>
              <a:gd name="adj" fmla="val 22000"/>
            </a:avLst>
          </a:prstGeom>
          <a:solidFill>
            <a:schemeClr val="tx1"/>
          </a:solidFill>
          <a:ln/>
        </p:spPr>
      </p:sp>
      <p:pic>
        <p:nvPicPr>
          <p:cNvPr id="20" name="Image 3" descr="FaLaptop">    </p:cNvPr>
          <p:cNvPicPr>
            <a:picLocks noChangeAspect="1"/>
          </p:cNvPicPr>
          <p:nvPr/>
        </p:nvPicPr>
        <p:blipFill>
          <a:blip r:embed="rId4"/>
          <a:stretch>
            <a:fillRect/>
          </a:stretch>
        </p:blipFill>
        <p:spPr>
          <a:xfrm>
            <a:off x="9536049" y="2106778"/>
            <a:ext cx="404165" cy="404165"/>
          </a:xfrm>
          <a:prstGeom prst="rect">
            <a:avLst/>
          </a:prstGeom>
        </p:spPr>
      </p:pic>
      <p:sp>
        <p:nvSpPr>
          <p:cNvPr id="21" name="Text 15"/>
          <p:cNvSpPr txBox="1"/>
          <p:nvPr/>
        </p:nvSpPr>
        <p:spPr>
          <a:xfrm>
            <a:off x="9349511" y="2971800"/>
            <a:ext cx="2019224" cy="457200"/>
          </a:xfrm>
          <a:prstGeom prst="rect">
            <a:avLst/>
          </a:prstGeom>
          <a:noFill/>
          <a:ln/>
        </p:spPr>
        <p:txBody>
          <a:bodyPr wrap="square" lIns="0" tIns="0" rIns="0" bIns="0" rtlCol="0" anchor="t"/>
          <a:lstStyle/>
          <a:p>
            <a:pPr indent="0" marL="0">
              <a:buNone/>
            </a:pPr>
            <a:r>
              <a:rPr lang="en-US" sz="2600" b="1" dirty="0">
                <a:solidFill>
                  <a:schemeClr val="tx1"/>
                </a:solidFill>
                <a:latin typeface="+mj-lt" pitchFamily="34" charset="0"/>
                <a:ea typeface="+mj-lt" pitchFamily="34" charset="-122"/>
                <a:cs typeface="+mj-lt" pitchFamily="34" charset="-120"/>
              </a:rPr>
              <a:t>Log</a:t>
            </a:r>
            <a:endParaRPr lang="en-US" sz="2600" dirty="0"/>
          </a:p>
        </p:txBody>
      </p:sp>
      <p:sp>
        <p:nvSpPr>
          <p:cNvPr id="22" name="Text 16"/>
          <p:cNvSpPr txBox="1"/>
          <p:nvPr/>
        </p:nvSpPr>
        <p:spPr>
          <a:xfrm>
            <a:off x="9349511" y="3566160"/>
            <a:ext cx="2019224" cy="1737360"/>
          </a:xfrm>
          <a:prstGeom prst="rect">
            <a:avLst/>
          </a:prstGeom>
          <a:noFill/>
          <a:ln/>
        </p:spPr>
        <p:txBody>
          <a:bodyPr wrap="square" lIns="0" tIns="0" rIns="0" bIns="0" rtlCol="0" anchor="t"/>
          <a:lstStyle/>
          <a:p>
            <a:pPr indent="0" marL="0">
              <a:buNone/>
            </a:pPr>
            <a:r>
              <a:rPr lang="en-US" sz="1800" dirty="0">
                <a:solidFill>
                  <a:schemeClr val="accent6"/>
                </a:solidFill>
              </a:rPr>
              <a:t>Every reading streams to a laptop over the same USB cable, for testing and tuning.</a:t>
            </a:r>
            <a:endParaRPr lang="en-US" sz="18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What you see</a:t>
            </a:r>
            <a:endParaRPr lang="en-US" sz="3600" dirty="0"/>
          </a:p>
        </p:txBody>
      </p:sp>
      <p:sp>
        <p:nvSpPr>
          <p:cNvPr id="3" name="Power-up dot"/>
          <p:cNvSpPr/>
          <p:nvPr/>
        </p:nvSpPr>
        <p:spPr>
          <a:xfrm>
            <a:off x="548640" y="2331720"/>
            <a:ext cx="201168" cy="201168"/>
          </a:xfrm>
          <a:prstGeom prst="ellipse">
            <a:avLst/>
          </a:prstGeom>
          <a:solidFill>
            <a:schemeClr val="accent3"/>
          </a:solidFill>
          <a:ln/>
        </p:spPr>
      </p:sp>
      <p:sp>
        <p:nvSpPr>
          <p:cNvPr id="4" name="Text 2"/>
          <p:cNvSpPr txBox="1"/>
          <p:nvPr/>
        </p:nvSpPr>
        <p:spPr>
          <a:xfrm>
            <a:off x="868680" y="2240280"/>
            <a:ext cx="2213534" cy="384048"/>
          </a:xfrm>
          <a:prstGeom prst="rect">
            <a:avLst/>
          </a:prstGeom>
          <a:noFill/>
          <a:ln/>
        </p:spPr>
        <p:txBody>
          <a:bodyPr wrap="square" lIns="0" tIns="0" rIns="0" bIns="0" rtlCol="0" anchor="ctr"/>
          <a:lstStyle/>
          <a:p>
            <a:pPr indent="0" marL="0">
              <a:buNone/>
            </a:pPr>
            <a:r>
              <a:rPr lang="en-US" sz="2100" b="1" dirty="0">
                <a:solidFill>
                  <a:schemeClr val="tx1"/>
                </a:solidFill>
                <a:latin typeface="+mj-lt" pitchFamily="34" charset="0"/>
                <a:ea typeface="+mj-lt" pitchFamily="34" charset="-122"/>
                <a:cs typeface="+mj-lt" pitchFamily="34" charset="-120"/>
              </a:rPr>
              <a:t>Power-up</a:t>
            </a:r>
            <a:endParaRPr lang="en-US" sz="2100" dirty="0"/>
          </a:p>
        </p:txBody>
      </p:sp>
      <p:sp>
        <p:nvSpPr>
          <p:cNvPr id="5" name="Power-up LCD frame"/>
          <p:cNvSpPr/>
          <p:nvPr/>
        </p:nvSpPr>
        <p:spPr>
          <a:xfrm>
            <a:off x="548640" y="2880360"/>
            <a:ext cx="2533574" cy="1111084"/>
          </a:xfrm>
          <a:prstGeom prst="roundRect">
            <a:avLst>
              <a:gd name="adj" fmla="val 9876"/>
            </a:avLst>
          </a:prstGeom>
          <a:solidFill>
            <a:schemeClr val="tx2"/>
          </a:solidFill>
          <a:ln/>
          <a:effectLst>
            <a:outerShdw sx="100000" sy="100000" kx="0" ky="0" algn="bl" rotWithShape="0" blurRad="76200" dist="25400" dir="5400000">
              <a:srgbClr val="000000">
                <a:alpha val="12000"/>
              </a:srgbClr>
            </a:outerShdw>
          </a:effectLst>
        </p:spPr>
      </p:sp>
      <p:sp>
        <p:nvSpPr>
          <p:cNvPr id="6" name="Power-up LCD glass"/>
          <p:cNvSpPr/>
          <p:nvPr/>
        </p:nvSpPr>
        <p:spPr>
          <a:xfrm>
            <a:off x="685800" y="3017520"/>
            <a:ext cx="2259254" cy="836764"/>
          </a:xfrm>
          <a:prstGeom prst="rect">
            <a:avLst/>
          </a:prstGeom>
          <a:solidFill>
            <a:schemeClr val="accent4"/>
          </a:solidFill>
          <a:ln/>
        </p:spPr>
      </p:sp>
      <p:sp>
        <p:nvSpPr>
          <p:cNvPr id="7" name="Power-up LCD line 1"/>
          <p:cNvSpPr txBox="1"/>
          <p:nvPr/>
        </p:nvSpPr>
        <p:spPr>
          <a:xfrm>
            <a:off x="822750" y="3154470"/>
            <a:ext cx="2087880" cy="254000"/>
          </a:xfrm>
          <a:prstGeom prst="rect">
            <a:avLst/>
          </a:prstGeom>
          <a:noFill/>
          <a:ln/>
        </p:spPr>
        <p:txBody>
          <a:bodyPr wrap="none" lIns="0" tIns="0" rIns="0" bIns="0" rtlCol="0" anchor="ctr"/>
          <a:lstStyle/>
          <a:p>
            <a:pPr indent="0" marL="0">
              <a:buNone/>
            </a:pPr>
            <a:r>
              <a:rPr lang="en-US" sz="1600" dirty="0">
                <a:solidFill>
                  <a:schemeClr val="bg1"/>
                </a:solidFill>
                <a:latin typeface="Courier New" pitchFamily="34" charset="0"/>
                <a:ea typeface="Courier New" pitchFamily="34" charset="-122"/>
                <a:cs typeface="Courier New" pitchFamily="34" charset="-120"/>
              </a:rPr>
              <a:t>BIU Racing</a:t>
            </a:r>
            <a:endParaRPr lang="en-US" sz="1600" dirty="0"/>
          </a:p>
        </p:txBody>
      </p:sp>
      <p:sp>
        <p:nvSpPr>
          <p:cNvPr id="8" name="Power-up LCD line 2"/>
          <p:cNvSpPr txBox="1"/>
          <p:nvPr/>
        </p:nvSpPr>
        <p:spPr>
          <a:xfrm>
            <a:off x="822750" y="3463334"/>
            <a:ext cx="2087880" cy="254000"/>
          </a:xfrm>
          <a:prstGeom prst="rect">
            <a:avLst/>
          </a:prstGeom>
          <a:noFill/>
          <a:ln/>
        </p:spPr>
        <p:txBody>
          <a:bodyPr wrap="none" lIns="0" tIns="0" rIns="0" bIns="0" rtlCol="0" anchor="ctr"/>
          <a:lstStyle/>
          <a:p>
            <a:pPr indent="0" marL="0">
              <a:buNone/>
            </a:pPr>
            <a:r>
              <a:rPr lang="en-US" sz="1600" dirty="0">
                <a:solidFill>
                  <a:schemeClr val="bg1"/>
                </a:solidFill>
                <a:latin typeface="Courier New" pitchFamily="34" charset="0"/>
                <a:ea typeface="Courier New" pitchFamily="34" charset="-122"/>
                <a:cs typeface="Courier New" pitchFamily="34" charset="-120"/>
              </a:rPr>
              <a:t>Warming up   10s</a:t>
            </a:r>
            <a:endParaRPr lang="en-US" sz="1600" dirty="0"/>
          </a:p>
        </p:txBody>
      </p:sp>
      <p:sp>
        <p:nvSpPr>
          <p:cNvPr id="9" name="Text 7"/>
          <p:cNvSpPr txBox="1"/>
          <p:nvPr/>
        </p:nvSpPr>
        <p:spPr>
          <a:xfrm>
            <a:off x="548640" y="4265764"/>
            <a:ext cx="2533574" cy="1371600"/>
          </a:xfrm>
          <a:prstGeom prst="rect">
            <a:avLst/>
          </a:prstGeom>
          <a:noFill/>
          <a:ln/>
        </p:spPr>
        <p:txBody>
          <a:bodyPr wrap="square" lIns="0" tIns="0" rIns="0" bIns="0" rtlCol="0" anchor="t"/>
          <a:lstStyle/>
          <a:p>
            <a:pPr indent="0" marL="0">
              <a:buNone/>
            </a:pPr>
            <a:r>
              <a:rPr lang="en-US" sz="1600" dirty="0">
                <a:solidFill>
                  <a:schemeClr val="accent6"/>
                </a:solidFill>
              </a:rPr>
              <a:t>The sensor's heater settles for 10 s. Alarms are held off during the countdown.</a:t>
            </a:r>
            <a:endParaRPr lang="en-US" sz="1600" dirty="0"/>
          </a:p>
        </p:txBody>
      </p:sp>
      <p:sp>
        <p:nvSpPr>
          <p:cNvPr id="10" name="Normal dot"/>
          <p:cNvSpPr/>
          <p:nvPr/>
        </p:nvSpPr>
        <p:spPr>
          <a:xfrm>
            <a:off x="3402254" y="2331720"/>
            <a:ext cx="201168" cy="201168"/>
          </a:xfrm>
          <a:prstGeom prst="ellipse">
            <a:avLst/>
          </a:prstGeom>
          <a:solidFill>
            <a:schemeClr val="accent2"/>
          </a:solidFill>
          <a:ln/>
        </p:spPr>
      </p:sp>
      <p:sp>
        <p:nvSpPr>
          <p:cNvPr id="11" name="Text 9"/>
          <p:cNvSpPr txBox="1"/>
          <p:nvPr/>
        </p:nvSpPr>
        <p:spPr>
          <a:xfrm>
            <a:off x="3722294" y="2240280"/>
            <a:ext cx="2213534" cy="384048"/>
          </a:xfrm>
          <a:prstGeom prst="rect">
            <a:avLst/>
          </a:prstGeom>
          <a:noFill/>
          <a:ln/>
        </p:spPr>
        <p:txBody>
          <a:bodyPr wrap="square" lIns="0" tIns="0" rIns="0" bIns="0" rtlCol="0" anchor="ctr"/>
          <a:lstStyle/>
          <a:p>
            <a:pPr indent="0" marL="0">
              <a:buNone/>
            </a:pPr>
            <a:r>
              <a:rPr lang="en-US" sz="2100" b="1" dirty="0">
                <a:solidFill>
                  <a:schemeClr val="tx1"/>
                </a:solidFill>
                <a:latin typeface="+mj-lt" pitchFamily="34" charset="0"/>
                <a:ea typeface="+mj-lt" pitchFamily="34" charset="-122"/>
                <a:cs typeface="+mj-lt" pitchFamily="34" charset="-120"/>
              </a:rPr>
              <a:t>Normal</a:t>
            </a:r>
            <a:endParaRPr lang="en-US" sz="2100" dirty="0"/>
          </a:p>
        </p:txBody>
      </p:sp>
      <p:sp>
        <p:nvSpPr>
          <p:cNvPr id="12" name="Normal LCD frame"/>
          <p:cNvSpPr/>
          <p:nvPr/>
        </p:nvSpPr>
        <p:spPr>
          <a:xfrm>
            <a:off x="3402254" y="2880360"/>
            <a:ext cx="2533574" cy="1111084"/>
          </a:xfrm>
          <a:prstGeom prst="roundRect">
            <a:avLst>
              <a:gd name="adj" fmla="val 9876"/>
            </a:avLst>
          </a:prstGeom>
          <a:solidFill>
            <a:schemeClr val="tx2"/>
          </a:solidFill>
          <a:ln/>
          <a:effectLst>
            <a:outerShdw sx="100000" sy="100000" kx="0" ky="0" algn="bl" rotWithShape="0" blurRad="76200" dist="25400" dir="5400000">
              <a:srgbClr val="000000">
                <a:alpha val="12000"/>
              </a:srgbClr>
            </a:outerShdw>
          </a:effectLst>
        </p:spPr>
      </p:sp>
      <p:sp>
        <p:nvSpPr>
          <p:cNvPr id="13" name="Normal LCD glass"/>
          <p:cNvSpPr/>
          <p:nvPr/>
        </p:nvSpPr>
        <p:spPr>
          <a:xfrm>
            <a:off x="3539414" y="3017520"/>
            <a:ext cx="2259254" cy="836764"/>
          </a:xfrm>
          <a:prstGeom prst="rect">
            <a:avLst/>
          </a:prstGeom>
          <a:solidFill>
            <a:schemeClr val="accent4"/>
          </a:solidFill>
          <a:ln/>
        </p:spPr>
      </p:sp>
      <p:sp>
        <p:nvSpPr>
          <p:cNvPr id="14" name="Normal LCD line 1"/>
          <p:cNvSpPr txBox="1"/>
          <p:nvPr/>
        </p:nvSpPr>
        <p:spPr>
          <a:xfrm>
            <a:off x="3676364" y="3154470"/>
            <a:ext cx="2087880" cy="254000"/>
          </a:xfrm>
          <a:prstGeom prst="rect">
            <a:avLst/>
          </a:prstGeom>
          <a:noFill/>
          <a:ln/>
        </p:spPr>
        <p:txBody>
          <a:bodyPr wrap="none" lIns="0" tIns="0" rIns="0" bIns="0" rtlCol="0" anchor="ctr"/>
          <a:lstStyle/>
          <a:p>
            <a:pPr indent="0" marL="0">
              <a:buNone/>
            </a:pPr>
            <a:r>
              <a:rPr lang="en-US" sz="1600" dirty="0">
                <a:solidFill>
                  <a:schemeClr val="bg1"/>
                </a:solidFill>
                <a:latin typeface="Courier New" pitchFamily="34" charset="0"/>
                <a:ea typeface="Courier New" pitchFamily="34" charset="-122"/>
                <a:cs typeface="Courier New" pitchFamily="34" charset="-120"/>
              </a:rPr>
              <a:t>BIU Racing</a:t>
            </a:r>
            <a:endParaRPr lang="en-US" sz="1600" dirty="0"/>
          </a:p>
        </p:txBody>
      </p:sp>
      <p:sp>
        <p:nvSpPr>
          <p:cNvPr id="15" name="Normal LCD line 2"/>
          <p:cNvSpPr txBox="1"/>
          <p:nvPr/>
        </p:nvSpPr>
        <p:spPr>
          <a:xfrm>
            <a:off x="3676364" y="3463334"/>
            <a:ext cx="2087880" cy="254000"/>
          </a:xfrm>
          <a:prstGeom prst="rect">
            <a:avLst/>
          </a:prstGeom>
          <a:noFill/>
          <a:ln/>
        </p:spPr>
        <p:txBody>
          <a:bodyPr wrap="none" lIns="0" tIns="0" rIns="0" bIns="0" rtlCol="0" anchor="ctr"/>
          <a:lstStyle/>
          <a:p>
            <a:pPr indent="0" marL="0">
              <a:buNone/>
            </a:pPr>
            <a:r>
              <a:rPr lang="en-US" sz="1600" dirty="0">
                <a:solidFill>
                  <a:schemeClr val="bg1"/>
                </a:solidFill>
                <a:latin typeface="Courier New" pitchFamily="34" charset="0"/>
                <a:ea typeface="Courier New" pitchFamily="34" charset="-122"/>
                <a:cs typeface="Courier New" pitchFamily="34" charset="-120"/>
              </a:rPr>
              <a:t>Air OK</a:t>
            </a:r>
            <a:endParaRPr lang="en-US" sz="1600" dirty="0"/>
          </a:p>
        </p:txBody>
      </p:sp>
      <p:sp>
        <p:nvSpPr>
          <p:cNvPr id="16" name="Normal LCD bar frame"/>
          <p:cNvSpPr/>
          <p:nvPr/>
        </p:nvSpPr>
        <p:spPr>
          <a:xfrm>
            <a:off x="4905317" y="3509054"/>
            <a:ext cx="712013" cy="162560"/>
          </a:xfrm>
          <a:prstGeom prst="rect">
            <a:avLst/>
          </a:prstGeom>
          <a:ln w="15875">
            <a:solidFill>
              <a:schemeClr val="bg1"/>
            </a:solidFill>
            <a:prstDash val="solid"/>
          </a:ln>
        </p:spPr>
      </p:sp>
      <p:sp>
        <p:nvSpPr>
          <p:cNvPr id="17" name="Normal LCD bar fill"/>
          <p:cNvSpPr/>
          <p:nvPr/>
        </p:nvSpPr>
        <p:spPr>
          <a:xfrm>
            <a:off x="4905317" y="3509054"/>
            <a:ext cx="166136" cy="162560"/>
          </a:xfrm>
          <a:prstGeom prst="rect">
            <a:avLst/>
          </a:prstGeom>
          <a:solidFill>
            <a:schemeClr val="bg1"/>
          </a:solidFill>
          <a:ln/>
        </p:spPr>
      </p:sp>
      <p:sp>
        <p:nvSpPr>
          <p:cNvPr id="18" name="Text 16"/>
          <p:cNvSpPr txBox="1"/>
          <p:nvPr/>
        </p:nvSpPr>
        <p:spPr>
          <a:xfrm>
            <a:off x="3402254" y="4265764"/>
            <a:ext cx="2533574" cy="1371600"/>
          </a:xfrm>
          <a:prstGeom prst="rect">
            <a:avLst/>
          </a:prstGeom>
          <a:noFill/>
          <a:ln/>
        </p:spPr>
        <p:txBody>
          <a:bodyPr wrap="square" lIns="0" tIns="0" rIns="0" bIns="0" rtlCol="0" anchor="t"/>
          <a:lstStyle/>
          <a:p>
            <a:pPr indent="0" marL="0">
              <a:buNone/>
            </a:pPr>
            <a:r>
              <a:rPr lang="en-US" sz="1600" dirty="0">
                <a:solidFill>
                  <a:schemeClr val="accent6"/>
                </a:solidFill>
              </a:rPr>
              <a:t>The bar fills as the air gets worse. Empty = clean air.</a:t>
            </a:r>
            <a:endParaRPr lang="en-US" sz="1600" dirty="0"/>
          </a:p>
        </p:txBody>
      </p:sp>
      <p:sp>
        <p:nvSpPr>
          <p:cNvPr id="19" name="Toxic dot"/>
          <p:cNvSpPr/>
          <p:nvPr/>
        </p:nvSpPr>
        <p:spPr>
          <a:xfrm>
            <a:off x="6255868" y="2331720"/>
            <a:ext cx="201168" cy="201168"/>
          </a:xfrm>
          <a:prstGeom prst="ellipse">
            <a:avLst/>
          </a:prstGeom>
          <a:solidFill>
            <a:schemeClr val="accent5"/>
          </a:solidFill>
          <a:ln/>
        </p:spPr>
      </p:sp>
      <p:sp>
        <p:nvSpPr>
          <p:cNvPr id="20" name="Text 18"/>
          <p:cNvSpPr txBox="1"/>
          <p:nvPr/>
        </p:nvSpPr>
        <p:spPr>
          <a:xfrm>
            <a:off x="6575908" y="2240280"/>
            <a:ext cx="2213534" cy="384048"/>
          </a:xfrm>
          <a:prstGeom prst="rect">
            <a:avLst/>
          </a:prstGeom>
          <a:noFill/>
          <a:ln/>
        </p:spPr>
        <p:txBody>
          <a:bodyPr wrap="square" lIns="0" tIns="0" rIns="0" bIns="0" rtlCol="0" anchor="ctr"/>
          <a:lstStyle/>
          <a:p>
            <a:pPr indent="0" marL="0">
              <a:buNone/>
            </a:pPr>
            <a:r>
              <a:rPr lang="en-US" sz="2100" b="1" dirty="0">
                <a:solidFill>
                  <a:schemeClr val="tx1"/>
                </a:solidFill>
                <a:latin typeface="+mj-lt" pitchFamily="34" charset="0"/>
                <a:ea typeface="+mj-lt" pitchFamily="34" charset="-122"/>
                <a:cs typeface="+mj-lt" pitchFamily="34" charset="-120"/>
              </a:rPr>
              <a:t>Toxic</a:t>
            </a:r>
            <a:endParaRPr lang="en-US" sz="2100" dirty="0"/>
          </a:p>
        </p:txBody>
      </p:sp>
      <p:sp>
        <p:nvSpPr>
          <p:cNvPr id="21" name="Toxic LCD frame"/>
          <p:cNvSpPr/>
          <p:nvPr/>
        </p:nvSpPr>
        <p:spPr>
          <a:xfrm>
            <a:off x="6255868" y="2880360"/>
            <a:ext cx="2533574" cy="1111084"/>
          </a:xfrm>
          <a:prstGeom prst="roundRect">
            <a:avLst>
              <a:gd name="adj" fmla="val 9876"/>
            </a:avLst>
          </a:prstGeom>
          <a:solidFill>
            <a:schemeClr val="tx2"/>
          </a:solidFill>
          <a:ln w="38100">
            <a:solidFill>
              <a:schemeClr val="accent5"/>
            </a:solidFill>
            <a:prstDash val="solid"/>
          </a:ln>
          <a:effectLst>
            <a:outerShdw sx="100000" sy="100000" kx="0" ky="0" algn="bl" rotWithShape="0" blurRad="76200" dist="25400" dir="5400000">
              <a:srgbClr val="000000">
                <a:alpha val="12000"/>
              </a:srgbClr>
            </a:outerShdw>
          </a:effectLst>
        </p:spPr>
      </p:sp>
      <p:sp>
        <p:nvSpPr>
          <p:cNvPr id="22" name="Toxic LCD glass"/>
          <p:cNvSpPr/>
          <p:nvPr/>
        </p:nvSpPr>
        <p:spPr>
          <a:xfrm>
            <a:off x="6393028" y="3017520"/>
            <a:ext cx="2259254" cy="836764"/>
          </a:xfrm>
          <a:prstGeom prst="rect">
            <a:avLst/>
          </a:prstGeom>
          <a:solidFill>
            <a:schemeClr val="accent4"/>
          </a:solidFill>
          <a:ln/>
        </p:spPr>
      </p:sp>
      <p:sp>
        <p:nvSpPr>
          <p:cNvPr id="23" name="Toxic LCD line 1"/>
          <p:cNvSpPr txBox="1"/>
          <p:nvPr/>
        </p:nvSpPr>
        <p:spPr>
          <a:xfrm>
            <a:off x="6529978" y="3154470"/>
            <a:ext cx="2087880" cy="254000"/>
          </a:xfrm>
          <a:prstGeom prst="rect">
            <a:avLst/>
          </a:prstGeom>
          <a:noFill/>
          <a:ln/>
        </p:spPr>
        <p:txBody>
          <a:bodyPr wrap="none" lIns="0" tIns="0" rIns="0" bIns="0" rtlCol="0" anchor="ctr"/>
          <a:lstStyle/>
          <a:p>
            <a:pPr indent="0" marL="0">
              <a:buNone/>
            </a:pPr>
            <a:r>
              <a:rPr lang="en-US" sz="1600" dirty="0">
                <a:solidFill>
                  <a:schemeClr val="bg1"/>
                </a:solidFill>
                <a:latin typeface="Courier New" pitchFamily="34" charset="0"/>
                <a:ea typeface="Courier New" pitchFamily="34" charset="-122"/>
                <a:cs typeface="Courier New" pitchFamily="34" charset="-120"/>
              </a:rPr>
              <a:t>BIU Racing</a:t>
            </a:r>
            <a:endParaRPr lang="en-US" sz="1600" dirty="0"/>
          </a:p>
        </p:txBody>
      </p:sp>
      <p:sp>
        <p:nvSpPr>
          <p:cNvPr id="24" name="Toxic LCD line 2"/>
          <p:cNvSpPr txBox="1"/>
          <p:nvPr/>
        </p:nvSpPr>
        <p:spPr>
          <a:xfrm>
            <a:off x="6529978" y="3463334"/>
            <a:ext cx="2087880" cy="254000"/>
          </a:xfrm>
          <a:prstGeom prst="rect">
            <a:avLst/>
          </a:prstGeom>
          <a:noFill/>
          <a:ln/>
        </p:spPr>
        <p:txBody>
          <a:bodyPr wrap="none" lIns="0" tIns="0" rIns="0" bIns="0" rtlCol="0" anchor="ctr"/>
          <a:lstStyle/>
          <a:p>
            <a:pPr indent="0" marL="0">
              <a:buNone/>
            </a:pPr>
            <a:r>
              <a:rPr lang="en-US" sz="1600" dirty="0">
                <a:solidFill>
                  <a:schemeClr val="bg1"/>
                </a:solidFill>
                <a:latin typeface="Courier New" pitchFamily="34" charset="0"/>
                <a:ea typeface="Courier New" pitchFamily="34" charset="-122"/>
                <a:cs typeface="Courier New" pitchFamily="34" charset="-120"/>
              </a:rPr>
              <a:t>Air Toxic</a:t>
            </a:r>
            <a:endParaRPr lang="en-US" sz="1600" dirty="0"/>
          </a:p>
        </p:txBody>
      </p:sp>
      <p:sp>
        <p:nvSpPr>
          <p:cNvPr id="25" name="Toxic LCD bar frame"/>
          <p:cNvSpPr/>
          <p:nvPr/>
        </p:nvSpPr>
        <p:spPr>
          <a:xfrm>
            <a:off x="7758931" y="3509054"/>
            <a:ext cx="712013" cy="162560"/>
          </a:xfrm>
          <a:prstGeom prst="rect">
            <a:avLst/>
          </a:prstGeom>
          <a:ln w="15875">
            <a:solidFill>
              <a:schemeClr val="bg1"/>
            </a:solidFill>
            <a:prstDash val="solid"/>
          </a:ln>
        </p:spPr>
      </p:sp>
      <p:sp>
        <p:nvSpPr>
          <p:cNvPr id="26" name="Toxic LCD bar fill"/>
          <p:cNvSpPr/>
          <p:nvPr/>
        </p:nvSpPr>
        <p:spPr>
          <a:xfrm>
            <a:off x="7758931" y="3509054"/>
            <a:ext cx="545876" cy="162560"/>
          </a:xfrm>
          <a:prstGeom prst="rect">
            <a:avLst/>
          </a:prstGeom>
          <a:solidFill>
            <a:schemeClr val="bg1"/>
          </a:solidFill>
          <a:ln/>
        </p:spPr>
      </p:sp>
      <p:sp>
        <p:nvSpPr>
          <p:cNvPr id="27" name="Text 25"/>
          <p:cNvSpPr txBox="1"/>
          <p:nvPr/>
        </p:nvSpPr>
        <p:spPr>
          <a:xfrm>
            <a:off x="6255868" y="4265764"/>
            <a:ext cx="2533574" cy="1371600"/>
          </a:xfrm>
          <a:prstGeom prst="rect">
            <a:avLst/>
          </a:prstGeom>
          <a:noFill/>
          <a:ln/>
        </p:spPr>
        <p:txBody>
          <a:bodyPr wrap="square" lIns="0" tIns="0" rIns="0" bIns="0" rtlCol="0" anchor="t"/>
          <a:lstStyle/>
          <a:p>
            <a:pPr indent="0" marL="0">
              <a:buNone/>
            </a:pPr>
            <a:r>
              <a:rPr lang="en-US" sz="1600" dirty="0">
                <a:solidFill>
                  <a:schemeClr val="accent6"/>
                </a:solidFill>
              </a:rPr>
              <a:t>From 2.0 V: the buzzer beeps and the backlight flashes.</a:t>
            </a:r>
            <a:endParaRPr lang="en-US" sz="1600" dirty="0"/>
          </a:p>
        </p:txBody>
      </p:sp>
      <p:sp>
        <p:nvSpPr>
          <p:cNvPr id="28" name="Very toxic dot"/>
          <p:cNvSpPr/>
          <p:nvPr/>
        </p:nvSpPr>
        <p:spPr>
          <a:xfrm>
            <a:off x="9109481" y="2331720"/>
            <a:ext cx="201168" cy="201168"/>
          </a:xfrm>
          <a:prstGeom prst="ellipse">
            <a:avLst/>
          </a:prstGeom>
          <a:solidFill>
            <a:schemeClr val="accent1"/>
          </a:solidFill>
          <a:ln/>
        </p:spPr>
      </p:sp>
      <p:sp>
        <p:nvSpPr>
          <p:cNvPr id="29" name="Text 27"/>
          <p:cNvSpPr txBox="1"/>
          <p:nvPr/>
        </p:nvSpPr>
        <p:spPr>
          <a:xfrm>
            <a:off x="9429521" y="2240280"/>
            <a:ext cx="2213534" cy="384048"/>
          </a:xfrm>
          <a:prstGeom prst="rect">
            <a:avLst/>
          </a:prstGeom>
          <a:noFill/>
          <a:ln/>
        </p:spPr>
        <p:txBody>
          <a:bodyPr wrap="square" lIns="0" tIns="0" rIns="0" bIns="0" rtlCol="0" anchor="ctr"/>
          <a:lstStyle/>
          <a:p>
            <a:pPr indent="0" marL="0">
              <a:buNone/>
            </a:pPr>
            <a:r>
              <a:rPr lang="en-US" sz="2100" b="1" dirty="0">
                <a:solidFill>
                  <a:schemeClr val="tx1"/>
                </a:solidFill>
                <a:latin typeface="+mj-lt" pitchFamily="34" charset="0"/>
                <a:ea typeface="+mj-lt" pitchFamily="34" charset="-122"/>
                <a:cs typeface="+mj-lt" pitchFamily="34" charset="-120"/>
              </a:rPr>
              <a:t>Very toxic</a:t>
            </a:r>
            <a:endParaRPr lang="en-US" sz="2100" dirty="0"/>
          </a:p>
        </p:txBody>
      </p:sp>
      <p:sp>
        <p:nvSpPr>
          <p:cNvPr id="30" name="Very toxic LCD frame"/>
          <p:cNvSpPr/>
          <p:nvPr/>
        </p:nvSpPr>
        <p:spPr>
          <a:xfrm>
            <a:off x="9109481" y="2880360"/>
            <a:ext cx="2533574" cy="1111084"/>
          </a:xfrm>
          <a:prstGeom prst="roundRect">
            <a:avLst>
              <a:gd name="adj" fmla="val 9876"/>
            </a:avLst>
          </a:prstGeom>
          <a:solidFill>
            <a:schemeClr val="tx2"/>
          </a:solidFill>
          <a:ln w="38100">
            <a:solidFill>
              <a:schemeClr val="accent1"/>
            </a:solidFill>
            <a:prstDash val="solid"/>
          </a:ln>
          <a:effectLst>
            <a:outerShdw sx="100000" sy="100000" kx="0" ky="0" algn="bl" rotWithShape="0" blurRad="76200" dist="25400" dir="5400000">
              <a:srgbClr val="000000">
                <a:alpha val="12000"/>
              </a:srgbClr>
            </a:outerShdw>
          </a:effectLst>
        </p:spPr>
      </p:sp>
      <p:sp>
        <p:nvSpPr>
          <p:cNvPr id="31" name="Very toxic LCD glass"/>
          <p:cNvSpPr/>
          <p:nvPr/>
        </p:nvSpPr>
        <p:spPr>
          <a:xfrm>
            <a:off x="9246641" y="3017520"/>
            <a:ext cx="2259254" cy="836764"/>
          </a:xfrm>
          <a:prstGeom prst="rect">
            <a:avLst/>
          </a:prstGeom>
          <a:solidFill>
            <a:schemeClr val="accent4"/>
          </a:solidFill>
          <a:ln/>
        </p:spPr>
      </p:sp>
      <p:sp>
        <p:nvSpPr>
          <p:cNvPr id="32" name="Very toxic LCD line 1"/>
          <p:cNvSpPr txBox="1"/>
          <p:nvPr/>
        </p:nvSpPr>
        <p:spPr>
          <a:xfrm>
            <a:off x="9383591" y="3154470"/>
            <a:ext cx="2087880" cy="254000"/>
          </a:xfrm>
          <a:prstGeom prst="rect">
            <a:avLst/>
          </a:prstGeom>
          <a:noFill/>
          <a:ln/>
        </p:spPr>
        <p:txBody>
          <a:bodyPr wrap="none" lIns="0" tIns="0" rIns="0" bIns="0" rtlCol="0" anchor="ctr"/>
          <a:lstStyle/>
          <a:p>
            <a:pPr indent="0" marL="0">
              <a:buNone/>
            </a:pPr>
            <a:r>
              <a:rPr lang="en-US" sz="1600" dirty="0">
                <a:solidFill>
                  <a:schemeClr val="bg1"/>
                </a:solidFill>
                <a:latin typeface="Courier New" pitchFamily="34" charset="0"/>
                <a:ea typeface="Courier New" pitchFamily="34" charset="-122"/>
                <a:cs typeface="Courier New" pitchFamily="34" charset="-120"/>
              </a:rPr>
              <a:t>BIU Racing</a:t>
            </a:r>
            <a:endParaRPr lang="en-US" sz="1600" dirty="0"/>
          </a:p>
        </p:txBody>
      </p:sp>
      <p:sp>
        <p:nvSpPr>
          <p:cNvPr id="33" name="Very toxic LCD line 2"/>
          <p:cNvSpPr txBox="1"/>
          <p:nvPr/>
        </p:nvSpPr>
        <p:spPr>
          <a:xfrm>
            <a:off x="9383591" y="3463334"/>
            <a:ext cx="2087880" cy="254000"/>
          </a:xfrm>
          <a:prstGeom prst="rect">
            <a:avLst/>
          </a:prstGeom>
          <a:noFill/>
          <a:ln/>
        </p:spPr>
        <p:txBody>
          <a:bodyPr wrap="none" lIns="0" tIns="0" rIns="0" bIns="0" rtlCol="0" anchor="ctr"/>
          <a:lstStyle/>
          <a:p>
            <a:pPr indent="0" marL="0">
              <a:buNone/>
            </a:pPr>
            <a:r>
              <a:rPr lang="en-US" sz="1600" dirty="0">
                <a:solidFill>
                  <a:schemeClr val="bg1"/>
                </a:solidFill>
                <a:latin typeface="Courier New" pitchFamily="34" charset="0"/>
                <a:ea typeface="Courier New" pitchFamily="34" charset="-122"/>
                <a:cs typeface="Courier New" pitchFamily="34" charset="-120"/>
              </a:rPr>
              <a:t>Air Very Toxic</a:t>
            </a:r>
            <a:endParaRPr lang="en-US" sz="1600" dirty="0"/>
          </a:p>
        </p:txBody>
      </p:sp>
      <p:sp>
        <p:nvSpPr>
          <p:cNvPr id="34" name="Text 32"/>
          <p:cNvSpPr txBox="1"/>
          <p:nvPr/>
        </p:nvSpPr>
        <p:spPr>
          <a:xfrm>
            <a:off x="9109481" y="4265764"/>
            <a:ext cx="2533574" cy="1371600"/>
          </a:xfrm>
          <a:prstGeom prst="rect">
            <a:avLst/>
          </a:prstGeom>
          <a:noFill/>
          <a:ln/>
        </p:spPr>
        <p:txBody>
          <a:bodyPr wrap="square" lIns="0" tIns="0" rIns="0" bIns="0" rtlCol="0" anchor="t"/>
          <a:lstStyle/>
          <a:p>
            <a:pPr indent="0" marL="0">
              <a:buNone/>
            </a:pPr>
            <a:r>
              <a:rPr lang="en-US" sz="1600" dirty="0">
                <a:solidFill>
                  <a:schemeClr val="accent6"/>
                </a:solidFill>
              </a:rPr>
              <a:t>From 3.0 V: a full-width warning replaces the bar, with the same beep and flash.</a:t>
            </a:r>
            <a:endParaRPr lang="en-US"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Live demo</a:t>
            </a:r>
            <a:endParaRPr lang="en-US" sz="3600" dirty="0"/>
          </a:p>
        </p:txBody>
      </p:sp>
      <p:sp>
        <p:nvSpPr>
          <p:cNvPr id="3" name="Demo step 1 badge"/>
          <p:cNvSpPr/>
          <p:nvPr/>
        </p:nvSpPr>
        <p:spPr>
          <a:xfrm>
            <a:off x="548640" y="1600200"/>
            <a:ext cx="457200" cy="457200"/>
          </a:xfrm>
          <a:prstGeom prst="ellipse">
            <a:avLst/>
          </a:prstGeom>
          <a:solidFill>
            <a:schemeClr val="tx1"/>
          </a:solidFill>
          <a:ln/>
        </p:spPr>
      </p:sp>
      <p:sp>
        <p:nvSpPr>
          <p:cNvPr id="4" name="Text 2"/>
          <p:cNvSpPr txBox="1"/>
          <p:nvPr/>
        </p:nvSpPr>
        <p:spPr>
          <a:xfrm>
            <a:off x="548640" y="1600200"/>
            <a:ext cx="45720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mj-lt" pitchFamily="34" charset="0"/>
                <a:ea typeface="+mj-lt" pitchFamily="34" charset="-122"/>
                <a:cs typeface="+mj-lt" pitchFamily="34" charset="-120"/>
              </a:rPr>
              <a:t>1</a:t>
            </a:r>
            <a:endParaRPr lang="en-US" sz="1700" dirty="0"/>
          </a:p>
        </p:txBody>
      </p:sp>
      <p:sp>
        <p:nvSpPr>
          <p:cNvPr id="5" name="Text 3"/>
          <p:cNvSpPr txBox="1"/>
          <p:nvPr/>
        </p:nvSpPr>
        <p:spPr>
          <a:xfrm>
            <a:off x="1234440" y="1563624"/>
            <a:ext cx="4892040" cy="329184"/>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Power on</a:t>
            </a:r>
            <a:endParaRPr lang="en-US" sz="1800" dirty="0"/>
          </a:p>
        </p:txBody>
      </p:sp>
      <p:sp>
        <p:nvSpPr>
          <p:cNvPr id="6" name="Text 4"/>
          <p:cNvSpPr txBox="1"/>
          <p:nvPr/>
        </p:nvSpPr>
        <p:spPr>
          <a:xfrm>
            <a:off x="1234440" y="1901952"/>
            <a:ext cx="4892040" cy="365760"/>
          </a:xfrm>
          <a:prstGeom prst="rect">
            <a:avLst/>
          </a:prstGeom>
          <a:noFill/>
          <a:ln/>
        </p:spPr>
        <p:txBody>
          <a:bodyPr wrap="square" lIns="0" tIns="0" rIns="0" bIns="0" rtlCol="0" anchor="t"/>
          <a:lstStyle/>
          <a:p>
            <a:pPr indent="0" marL="0">
              <a:buNone/>
            </a:pPr>
            <a:r>
              <a:rPr lang="en-US" sz="1500" dirty="0">
                <a:solidFill>
                  <a:schemeClr val="accent6"/>
                </a:solidFill>
              </a:rPr>
              <a:t>A short beep, then a 10 s warm-up countdown.</a:t>
            </a:r>
            <a:endParaRPr lang="en-US" sz="1500" dirty="0"/>
          </a:p>
        </p:txBody>
      </p:sp>
      <p:sp>
        <p:nvSpPr>
          <p:cNvPr id="7" name="Demo step 2 badge"/>
          <p:cNvSpPr/>
          <p:nvPr/>
        </p:nvSpPr>
        <p:spPr>
          <a:xfrm>
            <a:off x="548640" y="2496312"/>
            <a:ext cx="457200" cy="457200"/>
          </a:xfrm>
          <a:prstGeom prst="ellipse">
            <a:avLst/>
          </a:prstGeom>
          <a:solidFill>
            <a:schemeClr val="tx1"/>
          </a:solidFill>
          <a:ln/>
        </p:spPr>
      </p:sp>
      <p:sp>
        <p:nvSpPr>
          <p:cNvPr id="8" name="Text 6"/>
          <p:cNvSpPr txBox="1"/>
          <p:nvPr/>
        </p:nvSpPr>
        <p:spPr>
          <a:xfrm>
            <a:off x="548640" y="2496312"/>
            <a:ext cx="45720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mj-lt" pitchFamily="34" charset="0"/>
                <a:ea typeface="+mj-lt" pitchFamily="34" charset="-122"/>
                <a:cs typeface="+mj-lt" pitchFamily="34" charset="-120"/>
              </a:rPr>
              <a:t>2</a:t>
            </a:r>
            <a:endParaRPr lang="en-US" sz="1700" dirty="0"/>
          </a:p>
        </p:txBody>
      </p:sp>
      <p:sp>
        <p:nvSpPr>
          <p:cNvPr id="9" name="Text 7"/>
          <p:cNvSpPr txBox="1"/>
          <p:nvPr/>
        </p:nvSpPr>
        <p:spPr>
          <a:xfrm>
            <a:off x="1234440" y="2459736"/>
            <a:ext cx="4892040" cy="329184"/>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Clean air</a:t>
            </a:r>
            <a:endParaRPr lang="en-US" sz="1800" dirty="0"/>
          </a:p>
        </p:txBody>
      </p:sp>
      <p:sp>
        <p:nvSpPr>
          <p:cNvPr id="10" name="Text 8"/>
          <p:cNvSpPr txBox="1"/>
          <p:nvPr/>
        </p:nvSpPr>
        <p:spPr>
          <a:xfrm>
            <a:off x="1234440" y="2798064"/>
            <a:ext cx="4892040" cy="365760"/>
          </a:xfrm>
          <a:prstGeom prst="rect">
            <a:avLst/>
          </a:prstGeom>
          <a:noFill/>
          <a:ln/>
        </p:spPr>
        <p:txBody>
          <a:bodyPr wrap="square" lIns="0" tIns="0" rIns="0" bIns="0" rtlCol="0" anchor="t"/>
          <a:lstStyle/>
          <a:p>
            <a:pPr indent="0" marL="0">
              <a:buNone/>
            </a:pPr>
            <a:r>
              <a:rPr lang="en-US" sz="1500" dirty="0">
                <a:solidFill>
                  <a:schemeClr val="accent6"/>
                </a:solidFill>
              </a:rPr>
              <a:t>“Air OK” with the bar near empty.</a:t>
            </a:r>
            <a:endParaRPr lang="en-US" sz="1500" dirty="0"/>
          </a:p>
        </p:txBody>
      </p:sp>
      <p:sp>
        <p:nvSpPr>
          <p:cNvPr id="11" name="Demo step 3 badge"/>
          <p:cNvSpPr/>
          <p:nvPr/>
        </p:nvSpPr>
        <p:spPr>
          <a:xfrm>
            <a:off x="548640" y="3392424"/>
            <a:ext cx="457200" cy="457200"/>
          </a:xfrm>
          <a:prstGeom prst="ellipse">
            <a:avLst/>
          </a:prstGeom>
          <a:solidFill>
            <a:schemeClr val="tx1"/>
          </a:solidFill>
          <a:ln/>
        </p:spPr>
      </p:sp>
      <p:sp>
        <p:nvSpPr>
          <p:cNvPr id="12" name="Text 10"/>
          <p:cNvSpPr txBox="1"/>
          <p:nvPr/>
        </p:nvSpPr>
        <p:spPr>
          <a:xfrm>
            <a:off x="548640" y="3392424"/>
            <a:ext cx="45720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mj-lt" pitchFamily="34" charset="0"/>
                <a:ea typeface="+mj-lt" pitchFamily="34" charset="-122"/>
                <a:cs typeface="+mj-lt" pitchFamily="34" charset="-120"/>
              </a:rPr>
              <a:t>3</a:t>
            </a:r>
            <a:endParaRPr lang="en-US" sz="1700" dirty="0"/>
          </a:p>
        </p:txBody>
      </p:sp>
      <p:sp>
        <p:nvSpPr>
          <p:cNvPr id="13" name="Text 11"/>
          <p:cNvSpPr txBox="1"/>
          <p:nvPr/>
        </p:nvSpPr>
        <p:spPr>
          <a:xfrm>
            <a:off x="1234440" y="3355848"/>
            <a:ext cx="4892040" cy="329184"/>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Add gas or smoke</a:t>
            </a:r>
            <a:endParaRPr lang="en-US" sz="1800" dirty="0"/>
          </a:p>
        </p:txBody>
      </p:sp>
      <p:sp>
        <p:nvSpPr>
          <p:cNvPr id="14" name="Text 12"/>
          <p:cNvSpPr txBox="1"/>
          <p:nvPr/>
        </p:nvSpPr>
        <p:spPr>
          <a:xfrm>
            <a:off x="1234440" y="3694176"/>
            <a:ext cx="4892040" cy="365760"/>
          </a:xfrm>
          <a:prstGeom prst="rect">
            <a:avLst/>
          </a:prstGeom>
          <a:noFill/>
          <a:ln/>
        </p:spPr>
        <p:txBody>
          <a:bodyPr wrap="square" lIns="0" tIns="0" rIns="0" bIns="0" rtlCol="0" anchor="t"/>
          <a:lstStyle/>
          <a:p>
            <a:pPr indent="0" marL="0">
              <a:buNone/>
            </a:pPr>
            <a:r>
              <a:rPr lang="en-US" sz="1500" dirty="0">
                <a:solidFill>
                  <a:schemeClr val="accent6"/>
                </a:solidFill>
              </a:rPr>
              <a:t>The bar climbs. At 2.0 V: “Air Toxic”, beep and flash.</a:t>
            </a:r>
            <a:endParaRPr lang="en-US" sz="1500" dirty="0"/>
          </a:p>
        </p:txBody>
      </p:sp>
      <p:sp>
        <p:nvSpPr>
          <p:cNvPr id="15" name="Demo step 4 badge"/>
          <p:cNvSpPr/>
          <p:nvPr/>
        </p:nvSpPr>
        <p:spPr>
          <a:xfrm>
            <a:off x="548640" y="4288536"/>
            <a:ext cx="457200" cy="457200"/>
          </a:xfrm>
          <a:prstGeom prst="ellipse">
            <a:avLst/>
          </a:prstGeom>
          <a:solidFill>
            <a:schemeClr val="tx1"/>
          </a:solidFill>
          <a:ln/>
        </p:spPr>
      </p:sp>
      <p:sp>
        <p:nvSpPr>
          <p:cNvPr id="16" name="Text 14"/>
          <p:cNvSpPr txBox="1"/>
          <p:nvPr/>
        </p:nvSpPr>
        <p:spPr>
          <a:xfrm>
            <a:off x="548640" y="4288536"/>
            <a:ext cx="45720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mj-lt" pitchFamily="34" charset="0"/>
                <a:ea typeface="+mj-lt" pitchFamily="34" charset="-122"/>
                <a:cs typeface="+mj-lt" pitchFamily="34" charset="-120"/>
              </a:rPr>
              <a:t>4</a:t>
            </a:r>
            <a:endParaRPr lang="en-US" sz="1700" dirty="0"/>
          </a:p>
        </p:txBody>
      </p:sp>
      <p:sp>
        <p:nvSpPr>
          <p:cNvPr id="17" name="Text 15"/>
          <p:cNvSpPr txBox="1"/>
          <p:nvPr/>
        </p:nvSpPr>
        <p:spPr>
          <a:xfrm>
            <a:off x="1234440" y="4251960"/>
            <a:ext cx="4892040" cy="329184"/>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Add more</a:t>
            </a:r>
            <a:endParaRPr lang="en-US" sz="1800" dirty="0"/>
          </a:p>
        </p:txBody>
      </p:sp>
      <p:sp>
        <p:nvSpPr>
          <p:cNvPr id="18" name="Text 16"/>
          <p:cNvSpPr txBox="1"/>
          <p:nvPr/>
        </p:nvSpPr>
        <p:spPr>
          <a:xfrm>
            <a:off x="1234440" y="4590288"/>
            <a:ext cx="4892040" cy="365760"/>
          </a:xfrm>
          <a:prstGeom prst="rect">
            <a:avLst/>
          </a:prstGeom>
          <a:noFill/>
          <a:ln/>
        </p:spPr>
        <p:txBody>
          <a:bodyPr wrap="square" lIns="0" tIns="0" rIns="0" bIns="0" rtlCol="0" anchor="t"/>
          <a:lstStyle/>
          <a:p>
            <a:pPr indent="0" marL="0">
              <a:buNone/>
            </a:pPr>
            <a:r>
              <a:rPr lang="en-US" sz="1500" dirty="0">
                <a:solidFill>
                  <a:schemeClr val="accent6"/>
                </a:solidFill>
              </a:rPr>
              <a:t>At 3.0 V: “Air Very Toxic” fills the whole line.</a:t>
            </a:r>
            <a:endParaRPr lang="en-US" sz="1500" dirty="0"/>
          </a:p>
        </p:txBody>
      </p:sp>
      <p:sp>
        <p:nvSpPr>
          <p:cNvPr id="19" name="Demo step 5 badge"/>
          <p:cNvSpPr/>
          <p:nvPr/>
        </p:nvSpPr>
        <p:spPr>
          <a:xfrm>
            <a:off x="548640" y="5184648"/>
            <a:ext cx="457200" cy="457200"/>
          </a:xfrm>
          <a:prstGeom prst="ellipse">
            <a:avLst/>
          </a:prstGeom>
          <a:solidFill>
            <a:schemeClr val="tx1"/>
          </a:solidFill>
          <a:ln/>
        </p:spPr>
      </p:sp>
      <p:sp>
        <p:nvSpPr>
          <p:cNvPr id="20" name="Text 18"/>
          <p:cNvSpPr txBox="1"/>
          <p:nvPr/>
        </p:nvSpPr>
        <p:spPr>
          <a:xfrm>
            <a:off x="548640" y="5184648"/>
            <a:ext cx="45720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mj-lt" pitchFamily="34" charset="0"/>
                <a:ea typeface="+mj-lt" pitchFamily="34" charset="-122"/>
                <a:cs typeface="+mj-lt" pitchFamily="34" charset="-120"/>
              </a:rPr>
              <a:t>5</a:t>
            </a:r>
            <a:endParaRPr lang="en-US" sz="1700" dirty="0"/>
          </a:p>
        </p:txBody>
      </p:sp>
      <p:sp>
        <p:nvSpPr>
          <p:cNvPr id="21" name="Text 19"/>
          <p:cNvSpPr txBox="1"/>
          <p:nvPr/>
        </p:nvSpPr>
        <p:spPr>
          <a:xfrm>
            <a:off x="1234440" y="5148072"/>
            <a:ext cx="4892040" cy="329184"/>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Clear the air</a:t>
            </a:r>
            <a:endParaRPr lang="en-US" sz="1800" dirty="0"/>
          </a:p>
        </p:txBody>
      </p:sp>
      <p:sp>
        <p:nvSpPr>
          <p:cNvPr id="22" name="Text 20"/>
          <p:cNvSpPr txBox="1"/>
          <p:nvPr/>
        </p:nvSpPr>
        <p:spPr>
          <a:xfrm>
            <a:off x="1234440" y="5486400"/>
            <a:ext cx="4892040" cy="365760"/>
          </a:xfrm>
          <a:prstGeom prst="rect">
            <a:avLst/>
          </a:prstGeom>
          <a:noFill/>
          <a:ln/>
        </p:spPr>
        <p:txBody>
          <a:bodyPr wrap="square" lIns="0" tIns="0" rIns="0" bIns="0" rtlCol="0" anchor="t"/>
          <a:lstStyle/>
          <a:p>
            <a:pPr indent="0" marL="0">
              <a:buNone/>
            </a:pPr>
            <a:r>
              <a:rPr lang="en-US" sz="1500" dirty="0">
                <a:solidFill>
                  <a:schemeClr val="accent6"/>
                </a:solidFill>
              </a:rPr>
              <a:t>The alarm holds until the level drops below 1.8 V, then clears.</a:t>
            </a:r>
            <a:endParaRPr lang="en-US" sz="1500" dirty="0"/>
          </a:p>
        </p:txBody>
      </p:sp>
      <p:sp>
        <p:nvSpPr>
          <p:cNvPr id="23" name="Terminal window"/>
          <p:cNvSpPr/>
          <p:nvPr/>
        </p:nvSpPr>
        <p:spPr>
          <a:xfrm>
            <a:off x="6400800" y="2286000"/>
            <a:ext cx="5242255" cy="2788920"/>
          </a:xfrm>
          <a:prstGeom prst="roundRect">
            <a:avLst>
              <a:gd name="adj" fmla="val 4918"/>
            </a:avLst>
          </a:prstGeom>
          <a:solidFill>
            <a:schemeClr val="tx1"/>
          </a:solidFill>
          <a:ln/>
          <a:effectLst>
            <a:outerShdw sx="100000" sy="100000" kx="0" ky="0" algn="bl" rotWithShape="0" blurRad="76200" dist="25400" dir="5400000">
              <a:srgbClr val="000000">
                <a:alpha val="12000"/>
              </a:srgbClr>
            </a:outerShdw>
          </a:effectLst>
        </p:spPr>
      </p:sp>
      <p:sp>
        <p:nvSpPr>
          <p:cNvPr id="24" name="Icon tile FaTerminal"/>
          <p:cNvSpPr/>
          <p:nvPr/>
        </p:nvSpPr>
        <p:spPr>
          <a:xfrm>
            <a:off x="6629400" y="2468880"/>
            <a:ext cx="411480" cy="411480"/>
          </a:xfrm>
          <a:prstGeom prst="roundRect">
            <a:avLst>
              <a:gd name="adj" fmla="val 22000"/>
            </a:avLst>
          </a:prstGeom>
          <a:solidFill>
            <a:schemeClr val="tx2"/>
          </a:solidFill>
          <a:ln/>
        </p:spPr>
      </p:sp>
      <p:pic>
        <p:nvPicPr>
          <p:cNvPr id="25" name="Image 0" descr="FaTerminal">    </p:cNvPr>
          <p:cNvPicPr>
            <a:picLocks noChangeAspect="1"/>
          </p:cNvPicPr>
          <p:nvPr/>
        </p:nvPicPr>
        <p:blipFill>
          <a:blip r:embed="rId1"/>
          <a:stretch>
            <a:fillRect/>
          </a:stretch>
        </p:blipFill>
        <p:spPr>
          <a:xfrm>
            <a:off x="6728155" y="2567635"/>
            <a:ext cx="213970" cy="213970"/>
          </a:xfrm>
          <a:prstGeom prst="rect">
            <a:avLst/>
          </a:prstGeom>
        </p:spPr>
      </p:pic>
      <p:sp>
        <p:nvSpPr>
          <p:cNvPr id="26" name="Text 23"/>
          <p:cNvSpPr txBox="1"/>
          <p:nvPr/>
        </p:nvSpPr>
        <p:spPr>
          <a:xfrm>
            <a:off x="7178040" y="2468880"/>
            <a:ext cx="4236415" cy="411480"/>
          </a:xfrm>
          <a:prstGeom prst="rect">
            <a:avLst/>
          </a:prstGeom>
          <a:noFill/>
          <a:ln/>
        </p:spPr>
        <p:txBody>
          <a:bodyPr wrap="square" lIns="0" tIns="0" rIns="0" bIns="0" rtlCol="0" anchor="ctr"/>
          <a:lstStyle/>
          <a:p>
            <a:pPr indent="0" marL="0">
              <a:buNone/>
            </a:pPr>
            <a:r>
              <a:rPr lang="en-US" sz="1300" dirty="0">
                <a:solidFill>
                  <a:schemeClr val="accent3"/>
                </a:solidFill>
              </a:rPr>
              <a:t>Laptop terminal  ·  115200 baud</a:t>
            </a:r>
            <a:endParaRPr lang="en-US" sz="1300" dirty="0"/>
          </a:p>
        </p:txBody>
      </p:sp>
      <p:sp>
        <p:nvSpPr>
          <p:cNvPr id="27" name="Terminal output"/>
          <p:cNvSpPr txBox="1"/>
          <p:nvPr/>
        </p:nvSpPr>
        <p:spPr>
          <a:xfrm>
            <a:off x="6629400" y="3063240"/>
            <a:ext cx="4876495" cy="1828800"/>
          </a:xfrm>
          <a:prstGeom prst="rect">
            <a:avLst/>
          </a:prstGeom>
          <a:noFill/>
          <a:ln/>
        </p:spPr>
        <p:txBody>
          <a:bodyPr wrap="square" lIns="0" tIns="0" rIns="0" bIns="0" rtlCol="0" anchor="t"/>
          <a:lstStyle/>
          <a:p>
            <a:pPr indent="0" marL="0">
              <a:spcAft>
                <a:spcPts val="600"/>
              </a:spcAft>
              <a:buNone/>
            </a:pPr>
            <a:r>
              <a:rPr lang="en-US" sz="1100" dirty="0">
                <a:solidFill>
                  <a:schemeClr val="accent3"/>
                </a:solidFill>
                <a:latin typeface="Courier New" pitchFamily="34" charset="0"/>
                <a:ea typeface="Courier New" pitchFamily="34" charset="-122"/>
                <a:cs typeface="Courier New" pitchFamily="34" charset="-120"/>
              </a:rPr>
              <a:t>BIU Racing smoke sensor started</a:t>
            </a:r>
            <a:endParaRPr lang="en-US" sz="1100" dirty="0"/>
          </a:p>
          <a:p>
            <a:pPr indent="0" marL="0">
              <a:spcAft>
                <a:spcPts val="600"/>
              </a:spcAft>
              <a:buNone/>
            </a:pPr>
            <a:r>
              <a:rPr lang="en-US" sz="1100" dirty="0">
                <a:solidFill>
                  <a:schemeClr val="accent3"/>
                </a:solidFill>
                <a:latin typeface="Courier New" pitchFamily="34" charset="0"/>
                <a:ea typeface="Courier New" pitchFamily="34" charset="-122"/>
                <a:cs typeface="Courier New" pitchFamily="34" charset="-120"/>
              </a:rPr>
              <a:t>Warming up, MQ2: 1480 mV, 49% of very toxic level</a:t>
            </a:r>
            <a:endParaRPr lang="en-US" sz="1100" dirty="0"/>
          </a:p>
          <a:p>
            <a:pPr indent="0" marL="0">
              <a:spcAft>
                <a:spcPts val="600"/>
              </a:spcAft>
              <a:buNone/>
            </a:pPr>
            <a:r>
              <a:rPr lang="en-US" sz="1100" dirty="0">
                <a:solidFill>
                  <a:schemeClr val="accent2"/>
                </a:solidFill>
                <a:latin typeface="Courier New" pitchFamily="34" charset="0"/>
                <a:ea typeface="Courier New" pitchFamily="34" charset="-122"/>
                <a:cs typeface="Courier New" pitchFamily="34" charset="-120"/>
              </a:rPr>
              <a:t>Air OK, MQ2: 712 mV, 23% of very toxic level</a:t>
            </a:r>
            <a:endParaRPr lang="en-US" sz="1100" dirty="0"/>
          </a:p>
          <a:p>
            <a:pPr indent="0" marL="0">
              <a:spcAft>
                <a:spcPts val="600"/>
              </a:spcAft>
              <a:buNone/>
            </a:pPr>
            <a:r>
              <a:rPr lang="en-US" sz="1100" dirty="0">
                <a:solidFill>
                  <a:schemeClr val="accent5"/>
                </a:solidFill>
                <a:latin typeface="Courier New" pitchFamily="34" charset="0"/>
                <a:ea typeface="Courier New" pitchFamily="34" charset="-122"/>
                <a:cs typeface="Courier New" pitchFamily="34" charset="-120"/>
              </a:rPr>
              <a:t>Air Toxic, MQ2: 2140 mV, 71% of very toxic level</a:t>
            </a:r>
            <a:endParaRPr lang="en-US" sz="1100" dirty="0"/>
          </a:p>
          <a:p>
            <a:pPr indent="0" marL="0">
              <a:spcAft>
                <a:spcPts val="600"/>
              </a:spcAft>
              <a:buNone/>
            </a:pPr>
            <a:r>
              <a:rPr lang="en-US" sz="1100" dirty="0">
                <a:solidFill>
                  <a:schemeClr val="accent1"/>
                </a:solidFill>
                <a:latin typeface="Courier New" pitchFamily="34" charset="0"/>
                <a:ea typeface="Courier New" pitchFamily="34" charset="-122"/>
                <a:cs typeface="Courier New" pitchFamily="34" charset="-120"/>
              </a:rPr>
              <a:t>Air Very Toxic, MQ2: 3060 mV, 100% of very toxic level</a:t>
            </a:r>
            <a:endParaRPr lang="en-US" sz="1100" dirty="0"/>
          </a:p>
          <a:p>
            <a:pPr indent="0" marL="0">
              <a:spcAft>
                <a:spcPts val="600"/>
              </a:spcAft>
              <a:buNone/>
            </a:pPr>
            <a:r>
              <a:rPr lang="en-US" sz="1100" dirty="0">
                <a:solidFill>
                  <a:schemeClr val="accent5"/>
                </a:solidFill>
                <a:latin typeface="Courier New" pitchFamily="34" charset="0"/>
                <a:ea typeface="Courier New" pitchFamily="34" charset="-122"/>
                <a:cs typeface="Courier New" pitchFamily="34" charset="-120"/>
              </a:rPr>
              <a:t>Air Toxic, MQ2: 1920 mV, 64% of very toxic level</a:t>
            </a:r>
            <a:endParaRPr lang="en-US" sz="1100" dirty="0"/>
          </a:p>
          <a:p>
            <a:pPr indent="0" marL="0">
              <a:spcAft>
                <a:spcPts val="600"/>
              </a:spcAft>
              <a:buNone/>
            </a:pPr>
            <a:r>
              <a:rPr lang="en-US" sz="1100" dirty="0">
                <a:solidFill>
                  <a:schemeClr val="accent2"/>
                </a:solidFill>
                <a:latin typeface="Courier New" pitchFamily="34" charset="0"/>
                <a:ea typeface="Courier New" pitchFamily="34" charset="-122"/>
                <a:cs typeface="Courier New" pitchFamily="34" charset="-120"/>
              </a:rPr>
              <a:t>Air OK, MQ2: 1750 mV, 58% of very toxic level</a:t>
            </a:r>
            <a:endParaRPr lang="en-US" sz="1100" dirty="0"/>
          </a:p>
        </p:txBody>
      </p:sp>
      <p:sp>
        <p:nvSpPr>
          <p:cNvPr id="28" name="Text 25"/>
          <p:cNvSpPr txBox="1"/>
          <p:nvPr/>
        </p:nvSpPr>
        <p:spPr>
          <a:xfrm>
            <a:off x="6400800" y="5212080"/>
            <a:ext cx="5242255" cy="274320"/>
          </a:xfrm>
          <a:prstGeom prst="rect">
            <a:avLst/>
          </a:prstGeom>
          <a:noFill/>
          <a:ln/>
        </p:spPr>
        <p:txBody>
          <a:bodyPr wrap="square" lIns="0" tIns="0" rIns="0" bIns="0" rtlCol="0" anchor="t"/>
          <a:lstStyle/>
          <a:p>
            <a:pPr indent="0" marL="0">
              <a:buNone/>
            </a:pPr>
            <a:r>
              <a:rPr lang="en-US" sz="1200" i="1" dirty="0">
                <a:solidFill>
                  <a:schemeClr val="accent6"/>
                </a:solidFill>
              </a:rPr>
              <a:t>Example output. The format is exactly what the firmware prints.</a:t>
            </a:r>
            <a:endParaRPr lang="en-US" sz="12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How it works</a:t>
            </a:r>
            <a:endParaRPr lang="en-US" sz="3600" dirty="0"/>
          </a:p>
        </p:txBody>
      </p:sp>
      <p:sp>
        <p:nvSpPr>
          <p:cNvPr id="3" name="MQ-2 block"/>
          <p:cNvSpPr/>
          <p:nvPr/>
        </p:nvSpPr>
        <p:spPr>
          <a:xfrm>
            <a:off x="548640" y="3063240"/>
            <a:ext cx="1828800" cy="1325880"/>
          </a:xfrm>
          <a:prstGeom prst="roundRect">
            <a:avLst>
              <a:gd name="adj" fmla="val 8276"/>
            </a:avLst>
          </a:prstGeom>
          <a:solidFill>
            <a:schemeClr val="bg2"/>
          </a:solidFill>
          <a:ln/>
        </p:spPr>
      </p:sp>
      <p:sp>
        <p:nvSpPr>
          <p:cNvPr id="4" name="Icon tile FaSmog"/>
          <p:cNvSpPr/>
          <p:nvPr/>
        </p:nvSpPr>
        <p:spPr>
          <a:xfrm>
            <a:off x="1188720" y="3200400"/>
            <a:ext cx="548640" cy="548640"/>
          </a:xfrm>
          <a:prstGeom prst="roundRect">
            <a:avLst>
              <a:gd name="adj" fmla="val 22000"/>
            </a:avLst>
          </a:prstGeom>
          <a:solidFill>
            <a:schemeClr val="tx1"/>
          </a:solidFill>
          <a:ln/>
        </p:spPr>
      </p:sp>
      <p:pic>
        <p:nvPicPr>
          <p:cNvPr id="5" name="Image 0" descr="FaSmog">    </p:cNvPr>
          <p:cNvPicPr>
            <a:picLocks noChangeAspect="1"/>
          </p:cNvPicPr>
          <p:nvPr/>
        </p:nvPicPr>
        <p:blipFill>
          <a:blip r:embed="rId1"/>
          <a:stretch>
            <a:fillRect/>
          </a:stretch>
        </p:blipFill>
        <p:spPr>
          <a:xfrm>
            <a:off x="1320394" y="3332074"/>
            <a:ext cx="285293" cy="285293"/>
          </a:xfrm>
          <a:prstGeom prst="rect">
            <a:avLst/>
          </a:prstGeom>
        </p:spPr>
      </p:pic>
      <p:sp>
        <p:nvSpPr>
          <p:cNvPr id="6" name="Text 3"/>
          <p:cNvSpPr txBox="1"/>
          <p:nvPr/>
        </p:nvSpPr>
        <p:spPr>
          <a:xfrm>
            <a:off x="640080" y="3813048"/>
            <a:ext cx="1645920" cy="274320"/>
          </a:xfrm>
          <a:prstGeom prst="rect">
            <a:avLst/>
          </a:prstGeom>
          <a:noFill/>
          <a:ln/>
        </p:spPr>
        <p:txBody>
          <a:bodyPr wrap="square" lIns="0" tIns="0" rIns="0" bIns="0" rtlCol="0" anchor="t"/>
          <a:lstStyle/>
          <a:p>
            <a:pPr algn="ctr" indent="0" marL="0">
              <a:buNone/>
            </a:pPr>
            <a:r>
              <a:rPr lang="en-US" sz="1500" b="1" dirty="0">
                <a:solidFill>
                  <a:schemeClr val="tx1"/>
                </a:solidFill>
                <a:latin typeface="+mj-lt" pitchFamily="34" charset="0"/>
                <a:ea typeface="+mj-lt" pitchFamily="34" charset="-122"/>
                <a:cs typeface="+mj-lt" pitchFamily="34" charset="-120"/>
              </a:rPr>
              <a:t>MQ-2 sensor</a:t>
            </a:r>
            <a:endParaRPr lang="en-US" sz="1500" dirty="0"/>
          </a:p>
        </p:txBody>
      </p:sp>
      <p:sp>
        <p:nvSpPr>
          <p:cNvPr id="7" name="Text 4"/>
          <p:cNvSpPr txBox="1"/>
          <p:nvPr/>
        </p:nvSpPr>
        <p:spPr>
          <a:xfrm>
            <a:off x="640080" y="4069080"/>
            <a:ext cx="1645920" cy="256032"/>
          </a:xfrm>
          <a:prstGeom prst="rect">
            <a:avLst/>
          </a:prstGeom>
          <a:noFill/>
          <a:ln/>
        </p:spPr>
        <p:txBody>
          <a:bodyPr wrap="square" lIns="0" tIns="0" rIns="0" bIns="0" rtlCol="0" anchor="t"/>
          <a:lstStyle/>
          <a:p>
            <a:pPr algn="ctr" indent="0" marL="0">
              <a:buNone/>
            </a:pPr>
            <a:r>
              <a:rPr lang="en-US" sz="1200" dirty="0">
                <a:solidFill>
                  <a:schemeClr val="accent6"/>
                </a:solidFill>
              </a:rPr>
              <a:t>smoke &amp; gas, 5 V</a:t>
            </a:r>
            <a:endParaRPr lang="en-US" sz="1200" dirty="0"/>
          </a:p>
        </p:txBody>
      </p:sp>
      <p:sp>
        <p:nvSpPr>
          <p:cNvPr id="8" name="Divider block"/>
          <p:cNvSpPr/>
          <p:nvPr/>
        </p:nvSpPr>
        <p:spPr>
          <a:xfrm>
            <a:off x="2971800" y="3063240"/>
            <a:ext cx="1508760" cy="1325880"/>
          </a:xfrm>
          <a:prstGeom prst="roundRect">
            <a:avLst>
              <a:gd name="adj" fmla="val 8276"/>
            </a:avLst>
          </a:prstGeom>
          <a:solidFill>
            <a:schemeClr val="bg2"/>
          </a:solidFill>
          <a:ln/>
        </p:spPr>
      </p:sp>
      <p:sp>
        <p:nvSpPr>
          <p:cNvPr id="9" name="Icon tile FaBolt"/>
          <p:cNvSpPr/>
          <p:nvPr/>
        </p:nvSpPr>
        <p:spPr>
          <a:xfrm>
            <a:off x="3451860" y="3200400"/>
            <a:ext cx="548640" cy="548640"/>
          </a:xfrm>
          <a:prstGeom prst="roundRect">
            <a:avLst>
              <a:gd name="adj" fmla="val 22000"/>
            </a:avLst>
          </a:prstGeom>
          <a:solidFill>
            <a:schemeClr val="tx1"/>
          </a:solidFill>
          <a:ln/>
        </p:spPr>
      </p:sp>
      <p:pic>
        <p:nvPicPr>
          <p:cNvPr id="10" name="Image 1" descr="FaBolt">    </p:cNvPr>
          <p:cNvPicPr>
            <a:picLocks noChangeAspect="1"/>
          </p:cNvPicPr>
          <p:nvPr/>
        </p:nvPicPr>
        <p:blipFill>
          <a:blip r:embed="rId2"/>
          <a:stretch>
            <a:fillRect/>
          </a:stretch>
        </p:blipFill>
        <p:spPr>
          <a:xfrm>
            <a:off x="3583534" y="3332074"/>
            <a:ext cx="285293" cy="285293"/>
          </a:xfrm>
          <a:prstGeom prst="rect">
            <a:avLst/>
          </a:prstGeom>
        </p:spPr>
      </p:pic>
      <p:sp>
        <p:nvSpPr>
          <p:cNvPr id="11" name="Text 7"/>
          <p:cNvSpPr txBox="1"/>
          <p:nvPr/>
        </p:nvSpPr>
        <p:spPr>
          <a:xfrm>
            <a:off x="3063240" y="3813048"/>
            <a:ext cx="1325880" cy="274320"/>
          </a:xfrm>
          <a:prstGeom prst="rect">
            <a:avLst/>
          </a:prstGeom>
          <a:noFill/>
          <a:ln/>
        </p:spPr>
        <p:txBody>
          <a:bodyPr wrap="square" lIns="0" tIns="0" rIns="0" bIns="0" rtlCol="0" anchor="t"/>
          <a:lstStyle/>
          <a:p>
            <a:pPr algn="ctr" indent="0" marL="0">
              <a:buNone/>
            </a:pPr>
            <a:r>
              <a:rPr lang="en-US" sz="1500" b="1" dirty="0">
                <a:solidFill>
                  <a:schemeClr val="tx1"/>
                </a:solidFill>
                <a:latin typeface="+mj-lt" pitchFamily="34" charset="0"/>
                <a:ea typeface="+mj-lt" pitchFamily="34" charset="-122"/>
                <a:cs typeface="+mj-lt" pitchFamily="34" charset="-120"/>
              </a:rPr>
              <a:t>Divider</a:t>
            </a:r>
            <a:endParaRPr lang="en-US" sz="1500" dirty="0"/>
          </a:p>
        </p:txBody>
      </p:sp>
      <p:sp>
        <p:nvSpPr>
          <p:cNvPr id="12" name="Text 8"/>
          <p:cNvSpPr txBox="1"/>
          <p:nvPr/>
        </p:nvSpPr>
        <p:spPr>
          <a:xfrm>
            <a:off x="3063240" y="4069080"/>
            <a:ext cx="1325880" cy="256032"/>
          </a:xfrm>
          <a:prstGeom prst="rect">
            <a:avLst/>
          </a:prstGeom>
          <a:noFill/>
          <a:ln/>
        </p:spPr>
        <p:txBody>
          <a:bodyPr wrap="square" lIns="0" tIns="0" rIns="0" bIns="0" rtlCol="0" anchor="t"/>
          <a:lstStyle/>
          <a:p>
            <a:pPr algn="ctr" indent="0" marL="0">
              <a:buNone/>
            </a:pPr>
            <a:r>
              <a:rPr lang="en-US" sz="1200" dirty="0">
                <a:solidFill>
                  <a:schemeClr val="accent6"/>
                </a:solidFill>
              </a:rPr>
              <a:t>10k + 20k</a:t>
            </a:r>
            <a:endParaRPr lang="en-US" sz="1200" dirty="0"/>
          </a:p>
        </p:txBody>
      </p:sp>
      <p:sp>
        <p:nvSpPr>
          <p:cNvPr id="13" name="Arrow 0–5 V"/>
          <p:cNvSpPr/>
          <p:nvPr/>
        </p:nvSpPr>
        <p:spPr>
          <a:xfrm>
            <a:off x="2377440" y="3726180"/>
            <a:ext cx="594360" cy="0"/>
          </a:xfrm>
          <a:prstGeom prst="line">
            <a:avLst/>
          </a:prstGeom>
          <a:noFill/>
          <a:ln w="25400">
            <a:solidFill>
              <a:schemeClr val="accent6"/>
            </a:solidFill>
            <a:prstDash val="solid"/>
            <a:tailEnd type="triangle"/>
          </a:ln>
        </p:spPr>
      </p:sp>
      <p:sp>
        <p:nvSpPr>
          <p:cNvPr id="14" name="Text 10"/>
          <p:cNvSpPr txBox="1"/>
          <p:nvPr/>
        </p:nvSpPr>
        <p:spPr>
          <a:xfrm>
            <a:off x="2194560" y="3799332"/>
            <a:ext cx="960120" cy="274320"/>
          </a:xfrm>
          <a:prstGeom prst="rect">
            <a:avLst/>
          </a:prstGeom>
          <a:noFill/>
          <a:ln/>
        </p:spPr>
        <p:txBody>
          <a:bodyPr wrap="square" lIns="0" tIns="0" rIns="0" bIns="0" rtlCol="0" anchor="t"/>
          <a:lstStyle/>
          <a:p>
            <a:pPr algn="ctr" indent="0" marL="0">
              <a:buNone/>
            </a:pPr>
            <a:r>
              <a:rPr lang="en-US" sz="1200" dirty="0">
                <a:solidFill>
                  <a:schemeClr val="accent6"/>
                </a:solidFill>
              </a:rPr>
              <a:t>0–5 V</a:t>
            </a:r>
            <a:endParaRPr lang="en-US" sz="1200" dirty="0"/>
          </a:p>
        </p:txBody>
      </p:sp>
      <p:sp>
        <p:nvSpPr>
          <p:cNvPr id="15" name="Arrow ≤ 3.3 V"/>
          <p:cNvSpPr/>
          <p:nvPr/>
        </p:nvSpPr>
        <p:spPr>
          <a:xfrm>
            <a:off x="4480560" y="3726180"/>
            <a:ext cx="594360" cy="0"/>
          </a:xfrm>
          <a:prstGeom prst="line">
            <a:avLst/>
          </a:prstGeom>
          <a:noFill/>
          <a:ln w="25400">
            <a:solidFill>
              <a:schemeClr val="accent6"/>
            </a:solidFill>
            <a:prstDash val="solid"/>
            <a:tailEnd type="triangle"/>
          </a:ln>
        </p:spPr>
      </p:sp>
      <p:sp>
        <p:nvSpPr>
          <p:cNvPr id="16" name="Text 12"/>
          <p:cNvSpPr txBox="1"/>
          <p:nvPr/>
        </p:nvSpPr>
        <p:spPr>
          <a:xfrm>
            <a:off x="4297680" y="3799332"/>
            <a:ext cx="960120" cy="274320"/>
          </a:xfrm>
          <a:prstGeom prst="rect">
            <a:avLst/>
          </a:prstGeom>
          <a:noFill/>
          <a:ln/>
        </p:spPr>
        <p:txBody>
          <a:bodyPr wrap="square" lIns="0" tIns="0" rIns="0" bIns="0" rtlCol="0" anchor="t"/>
          <a:lstStyle/>
          <a:p>
            <a:pPr algn="ctr" indent="0" marL="0">
              <a:buNone/>
            </a:pPr>
            <a:r>
              <a:rPr lang="en-US" sz="1200" dirty="0">
                <a:solidFill>
                  <a:schemeClr val="accent6"/>
                </a:solidFill>
              </a:rPr>
              <a:t>≤ 3.3 V</a:t>
            </a:r>
            <a:endParaRPr lang="en-US" sz="1200" dirty="0"/>
          </a:p>
        </p:txBody>
      </p:sp>
      <p:sp>
        <p:nvSpPr>
          <p:cNvPr id="17" name="STM32 block"/>
          <p:cNvSpPr/>
          <p:nvPr/>
        </p:nvSpPr>
        <p:spPr>
          <a:xfrm>
            <a:off x="5074920" y="1463040"/>
            <a:ext cx="2514600" cy="4526280"/>
          </a:xfrm>
          <a:prstGeom prst="roundRect">
            <a:avLst>
              <a:gd name="adj" fmla="val 5455"/>
            </a:avLst>
          </a:prstGeom>
          <a:solidFill>
            <a:schemeClr val="tx1"/>
          </a:solidFill>
          <a:ln/>
        </p:spPr>
      </p:sp>
      <p:sp>
        <p:nvSpPr>
          <p:cNvPr id="18" name="Icon tile FaMicrochip"/>
          <p:cNvSpPr/>
          <p:nvPr/>
        </p:nvSpPr>
        <p:spPr>
          <a:xfrm>
            <a:off x="5875020" y="2148840"/>
            <a:ext cx="914400" cy="914400"/>
          </a:xfrm>
          <a:prstGeom prst="roundRect">
            <a:avLst>
              <a:gd name="adj" fmla="val 22000"/>
            </a:avLst>
          </a:prstGeom>
          <a:solidFill>
            <a:schemeClr val="tx2"/>
          </a:solidFill>
          <a:ln/>
        </p:spPr>
      </p:sp>
      <p:pic>
        <p:nvPicPr>
          <p:cNvPr id="19" name="Image 2" descr="FaMicrochip">    </p:cNvPr>
          <p:cNvPicPr>
            <a:picLocks noChangeAspect="1"/>
          </p:cNvPicPr>
          <p:nvPr/>
        </p:nvPicPr>
        <p:blipFill>
          <a:blip r:embed="rId3"/>
          <a:stretch>
            <a:fillRect/>
          </a:stretch>
        </p:blipFill>
        <p:spPr>
          <a:xfrm>
            <a:off x="6094476" y="2368296"/>
            <a:ext cx="475488" cy="475488"/>
          </a:xfrm>
          <a:prstGeom prst="rect">
            <a:avLst/>
          </a:prstGeom>
        </p:spPr>
      </p:pic>
      <p:sp>
        <p:nvSpPr>
          <p:cNvPr id="20" name="Text 15"/>
          <p:cNvSpPr txBox="1"/>
          <p:nvPr/>
        </p:nvSpPr>
        <p:spPr>
          <a:xfrm>
            <a:off x="5212080" y="3291840"/>
            <a:ext cx="2240280" cy="411480"/>
          </a:xfrm>
          <a:prstGeom prst="rect">
            <a:avLst/>
          </a:prstGeom>
          <a:noFill/>
          <a:ln/>
        </p:spPr>
        <p:txBody>
          <a:bodyPr wrap="square" lIns="0" tIns="0" rIns="0" bIns="0" rtlCol="0" anchor="t"/>
          <a:lstStyle/>
          <a:p>
            <a:pPr algn="ctr" indent="0" marL="0">
              <a:buNone/>
            </a:pPr>
            <a:r>
              <a:rPr lang="en-US" sz="2200" b="1" dirty="0">
                <a:solidFill>
                  <a:schemeClr val="bg1"/>
                </a:solidFill>
                <a:latin typeface="+mj-lt" pitchFamily="34" charset="0"/>
                <a:ea typeface="+mj-lt" pitchFamily="34" charset="-122"/>
                <a:cs typeface="+mj-lt" pitchFamily="34" charset="-120"/>
              </a:rPr>
              <a:t>STM32G491</a:t>
            </a:r>
            <a:endParaRPr lang="en-US" sz="2200" dirty="0"/>
          </a:p>
        </p:txBody>
      </p:sp>
      <p:sp>
        <p:nvSpPr>
          <p:cNvPr id="21" name="Text 16"/>
          <p:cNvSpPr txBox="1"/>
          <p:nvPr/>
        </p:nvSpPr>
        <p:spPr>
          <a:xfrm>
            <a:off x="5212080" y="3749040"/>
            <a:ext cx="2240280" cy="292608"/>
          </a:xfrm>
          <a:prstGeom prst="rect">
            <a:avLst/>
          </a:prstGeom>
          <a:noFill/>
          <a:ln/>
        </p:spPr>
        <p:txBody>
          <a:bodyPr wrap="square" lIns="0" tIns="0" rIns="0" bIns="0" rtlCol="0" anchor="t"/>
          <a:lstStyle/>
          <a:p>
            <a:pPr algn="ctr" indent="0" marL="0">
              <a:buNone/>
            </a:pPr>
            <a:r>
              <a:rPr lang="en-US" sz="1400" dirty="0">
                <a:solidFill>
                  <a:schemeClr val="accent3"/>
                </a:solidFill>
              </a:rPr>
              <a:t>Nucleo-G491RE board</a:t>
            </a:r>
            <a:endParaRPr lang="en-US" sz="1400" dirty="0"/>
          </a:p>
        </p:txBody>
      </p:sp>
      <p:sp>
        <p:nvSpPr>
          <p:cNvPr id="22" name="Text 17"/>
          <p:cNvSpPr txBox="1"/>
          <p:nvPr/>
        </p:nvSpPr>
        <p:spPr>
          <a:xfrm>
            <a:off x="5212080" y="4069080"/>
            <a:ext cx="2240280" cy="292608"/>
          </a:xfrm>
          <a:prstGeom prst="rect">
            <a:avLst/>
          </a:prstGeom>
          <a:noFill/>
          <a:ln/>
        </p:spPr>
        <p:txBody>
          <a:bodyPr wrap="square" lIns="0" tIns="0" rIns="0" bIns="0" rtlCol="0" anchor="t"/>
          <a:lstStyle/>
          <a:p>
            <a:pPr algn="ctr" indent="0" marL="0">
              <a:buNone/>
            </a:pPr>
            <a:r>
              <a:rPr lang="en-US" sz="1400" dirty="0">
                <a:solidFill>
                  <a:schemeClr val="accent3"/>
                </a:solidFill>
              </a:rPr>
              <a:t>Cortex-M4  ·  170 MHz</a:t>
            </a:r>
            <a:endParaRPr lang="en-US" sz="1400" dirty="0"/>
          </a:p>
        </p:txBody>
      </p:sp>
      <p:sp>
        <p:nvSpPr>
          <p:cNvPr id="23" name="Text 18"/>
          <p:cNvSpPr txBox="1"/>
          <p:nvPr/>
        </p:nvSpPr>
        <p:spPr>
          <a:xfrm>
            <a:off x="5212080" y="4572000"/>
            <a:ext cx="2240280" cy="292608"/>
          </a:xfrm>
          <a:prstGeom prst="rect">
            <a:avLst/>
          </a:prstGeom>
          <a:noFill/>
          <a:ln/>
        </p:spPr>
        <p:txBody>
          <a:bodyPr wrap="square" lIns="0" tIns="0" rIns="0" bIns="0" rtlCol="0" anchor="t"/>
          <a:lstStyle/>
          <a:p>
            <a:pPr algn="ctr" indent="0" marL="0">
              <a:buNone/>
            </a:pPr>
            <a:r>
              <a:rPr lang="en-US" sz="1300" dirty="0">
                <a:solidFill>
                  <a:schemeClr val="accent3"/>
                </a:solidFill>
              </a:rPr>
              <a:t>12-bit ADC reads the sensor</a:t>
            </a:r>
            <a:endParaRPr lang="en-US" sz="1300" dirty="0"/>
          </a:p>
        </p:txBody>
      </p:sp>
      <p:sp>
        <p:nvSpPr>
          <p:cNvPr id="24" name="16×2 LCD block"/>
          <p:cNvSpPr/>
          <p:nvPr/>
        </p:nvSpPr>
        <p:spPr>
          <a:xfrm>
            <a:off x="9098280" y="1463040"/>
            <a:ext cx="2544775" cy="1325880"/>
          </a:xfrm>
          <a:prstGeom prst="roundRect">
            <a:avLst>
              <a:gd name="adj" fmla="val 8276"/>
            </a:avLst>
          </a:prstGeom>
          <a:solidFill>
            <a:schemeClr val="bg2"/>
          </a:solidFill>
          <a:ln/>
        </p:spPr>
      </p:sp>
      <p:sp>
        <p:nvSpPr>
          <p:cNvPr id="25" name="Icon tile FaDisplay"/>
          <p:cNvSpPr/>
          <p:nvPr/>
        </p:nvSpPr>
        <p:spPr>
          <a:xfrm>
            <a:off x="10096348" y="1600200"/>
            <a:ext cx="548640" cy="548640"/>
          </a:xfrm>
          <a:prstGeom prst="roundRect">
            <a:avLst>
              <a:gd name="adj" fmla="val 22000"/>
            </a:avLst>
          </a:prstGeom>
          <a:solidFill>
            <a:schemeClr val="tx1"/>
          </a:solidFill>
          <a:ln/>
        </p:spPr>
      </p:sp>
      <p:pic>
        <p:nvPicPr>
          <p:cNvPr id="26" name="Image 3" descr="FaDisplay">    </p:cNvPr>
          <p:cNvPicPr>
            <a:picLocks noChangeAspect="1"/>
          </p:cNvPicPr>
          <p:nvPr/>
        </p:nvPicPr>
        <p:blipFill>
          <a:blip r:embed="rId4"/>
          <a:stretch>
            <a:fillRect/>
          </a:stretch>
        </p:blipFill>
        <p:spPr>
          <a:xfrm>
            <a:off x="10228021" y="1731874"/>
            <a:ext cx="285293" cy="285293"/>
          </a:xfrm>
          <a:prstGeom prst="rect">
            <a:avLst/>
          </a:prstGeom>
        </p:spPr>
      </p:pic>
      <p:sp>
        <p:nvSpPr>
          <p:cNvPr id="27" name="Text 21"/>
          <p:cNvSpPr txBox="1"/>
          <p:nvPr/>
        </p:nvSpPr>
        <p:spPr>
          <a:xfrm>
            <a:off x="9189720" y="2212848"/>
            <a:ext cx="2361895" cy="274320"/>
          </a:xfrm>
          <a:prstGeom prst="rect">
            <a:avLst/>
          </a:prstGeom>
          <a:noFill/>
          <a:ln/>
        </p:spPr>
        <p:txBody>
          <a:bodyPr wrap="square" lIns="0" tIns="0" rIns="0" bIns="0" rtlCol="0" anchor="t"/>
          <a:lstStyle/>
          <a:p>
            <a:pPr algn="ctr" indent="0" marL="0">
              <a:buNone/>
            </a:pPr>
            <a:r>
              <a:rPr lang="en-US" sz="1500" b="1" dirty="0">
                <a:solidFill>
                  <a:schemeClr val="tx1"/>
                </a:solidFill>
                <a:latin typeface="+mj-lt" pitchFamily="34" charset="0"/>
                <a:ea typeface="+mj-lt" pitchFamily="34" charset="-122"/>
                <a:cs typeface="+mj-lt" pitchFamily="34" charset="-120"/>
              </a:rPr>
              <a:t>16×2 LCD</a:t>
            </a:r>
            <a:endParaRPr lang="en-US" sz="1500" dirty="0"/>
          </a:p>
        </p:txBody>
      </p:sp>
      <p:sp>
        <p:nvSpPr>
          <p:cNvPr id="28" name="Text 22"/>
          <p:cNvSpPr txBox="1"/>
          <p:nvPr/>
        </p:nvSpPr>
        <p:spPr>
          <a:xfrm>
            <a:off x="9189720" y="2468880"/>
            <a:ext cx="2361895" cy="256032"/>
          </a:xfrm>
          <a:prstGeom prst="rect">
            <a:avLst/>
          </a:prstGeom>
          <a:noFill/>
          <a:ln/>
        </p:spPr>
        <p:txBody>
          <a:bodyPr wrap="square" lIns="0" tIns="0" rIns="0" bIns="0" rtlCol="0" anchor="t"/>
          <a:lstStyle/>
          <a:p>
            <a:pPr algn="ctr" indent="0" marL="0">
              <a:buNone/>
            </a:pPr>
            <a:r>
              <a:rPr lang="en-US" sz="1200" dirty="0">
                <a:solidFill>
                  <a:schemeClr val="accent6"/>
                </a:solidFill>
              </a:rPr>
              <a:t>status + level bar</a:t>
            </a:r>
            <a:endParaRPr lang="en-US" sz="1200" dirty="0"/>
          </a:p>
        </p:txBody>
      </p:sp>
      <p:sp>
        <p:nvSpPr>
          <p:cNvPr id="29" name="Arrow I2C · D14/D15"/>
          <p:cNvSpPr/>
          <p:nvPr/>
        </p:nvSpPr>
        <p:spPr>
          <a:xfrm>
            <a:off x="7589520" y="2125980"/>
            <a:ext cx="1508760" cy="0"/>
          </a:xfrm>
          <a:prstGeom prst="line">
            <a:avLst/>
          </a:prstGeom>
          <a:noFill/>
          <a:ln w="25400">
            <a:solidFill>
              <a:schemeClr val="accent6"/>
            </a:solidFill>
            <a:prstDash val="solid"/>
            <a:tailEnd type="triangle"/>
          </a:ln>
        </p:spPr>
      </p:sp>
      <p:sp>
        <p:nvSpPr>
          <p:cNvPr id="30" name="Text 24"/>
          <p:cNvSpPr txBox="1"/>
          <p:nvPr/>
        </p:nvSpPr>
        <p:spPr>
          <a:xfrm>
            <a:off x="7406640" y="1778508"/>
            <a:ext cx="1874520" cy="274320"/>
          </a:xfrm>
          <a:prstGeom prst="rect">
            <a:avLst/>
          </a:prstGeom>
          <a:noFill/>
          <a:ln/>
        </p:spPr>
        <p:txBody>
          <a:bodyPr wrap="square" lIns="0" tIns="0" rIns="0" bIns="0" rtlCol="0" anchor="b"/>
          <a:lstStyle/>
          <a:p>
            <a:pPr algn="ctr" indent="0" marL="0">
              <a:buNone/>
            </a:pPr>
            <a:r>
              <a:rPr lang="en-US" sz="1200" dirty="0">
                <a:solidFill>
                  <a:schemeClr val="accent6"/>
                </a:solidFill>
              </a:rPr>
              <a:t>I2C · D14/D15</a:t>
            </a:r>
            <a:endParaRPr lang="en-US" sz="1200" dirty="0"/>
          </a:p>
        </p:txBody>
      </p:sp>
      <p:sp>
        <p:nvSpPr>
          <p:cNvPr id="31" name="Buzzer block"/>
          <p:cNvSpPr/>
          <p:nvPr/>
        </p:nvSpPr>
        <p:spPr>
          <a:xfrm>
            <a:off x="9098280" y="3063240"/>
            <a:ext cx="2544775" cy="1325880"/>
          </a:xfrm>
          <a:prstGeom prst="roundRect">
            <a:avLst>
              <a:gd name="adj" fmla="val 8276"/>
            </a:avLst>
          </a:prstGeom>
          <a:solidFill>
            <a:schemeClr val="bg2"/>
          </a:solidFill>
          <a:ln/>
        </p:spPr>
      </p:sp>
      <p:sp>
        <p:nvSpPr>
          <p:cNvPr id="32" name="Icon tile FaVolumeHigh"/>
          <p:cNvSpPr/>
          <p:nvPr/>
        </p:nvSpPr>
        <p:spPr>
          <a:xfrm>
            <a:off x="10096348" y="3200400"/>
            <a:ext cx="548640" cy="548640"/>
          </a:xfrm>
          <a:prstGeom prst="roundRect">
            <a:avLst>
              <a:gd name="adj" fmla="val 22000"/>
            </a:avLst>
          </a:prstGeom>
          <a:solidFill>
            <a:schemeClr val="tx1"/>
          </a:solidFill>
          <a:ln/>
        </p:spPr>
      </p:sp>
      <p:pic>
        <p:nvPicPr>
          <p:cNvPr id="33" name="Image 4" descr="FaVolumeHigh">    </p:cNvPr>
          <p:cNvPicPr>
            <a:picLocks noChangeAspect="1"/>
          </p:cNvPicPr>
          <p:nvPr/>
        </p:nvPicPr>
        <p:blipFill>
          <a:blip r:embed="rId5"/>
          <a:stretch>
            <a:fillRect/>
          </a:stretch>
        </p:blipFill>
        <p:spPr>
          <a:xfrm>
            <a:off x="10228021" y="3332074"/>
            <a:ext cx="285293" cy="285293"/>
          </a:xfrm>
          <a:prstGeom prst="rect">
            <a:avLst/>
          </a:prstGeom>
        </p:spPr>
      </p:pic>
      <p:sp>
        <p:nvSpPr>
          <p:cNvPr id="34" name="Text 27"/>
          <p:cNvSpPr txBox="1"/>
          <p:nvPr/>
        </p:nvSpPr>
        <p:spPr>
          <a:xfrm>
            <a:off x="9189720" y="3813048"/>
            <a:ext cx="2361895" cy="274320"/>
          </a:xfrm>
          <a:prstGeom prst="rect">
            <a:avLst/>
          </a:prstGeom>
          <a:noFill/>
          <a:ln/>
        </p:spPr>
        <p:txBody>
          <a:bodyPr wrap="square" lIns="0" tIns="0" rIns="0" bIns="0" rtlCol="0" anchor="t"/>
          <a:lstStyle/>
          <a:p>
            <a:pPr algn="ctr" indent="0" marL="0">
              <a:buNone/>
            </a:pPr>
            <a:r>
              <a:rPr lang="en-US" sz="1500" b="1" dirty="0">
                <a:solidFill>
                  <a:schemeClr val="tx1"/>
                </a:solidFill>
                <a:latin typeface="+mj-lt" pitchFamily="34" charset="0"/>
                <a:ea typeface="+mj-lt" pitchFamily="34" charset="-122"/>
                <a:cs typeface="+mj-lt" pitchFamily="34" charset="-120"/>
              </a:rPr>
              <a:t>Buzzer</a:t>
            </a:r>
            <a:endParaRPr lang="en-US" sz="1500" dirty="0"/>
          </a:p>
        </p:txBody>
      </p:sp>
      <p:sp>
        <p:nvSpPr>
          <p:cNvPr id="35" name="Text 28"/>
          <p:cNvSpPr txBox="1"/>
          <p:nvPr/>
        </p:nvSpPr>
        <p:spPr>
          <a:xfrm>
            <a:off x="9189720" y="4069080"/>
            <a:ext cx="2361895" cy="256032"/>
          </a:xfrm>
          <a:prstGeom prst="rect">
            <a:avLst/>
          </a:prstGeom>
          <a:noFill/>
          <a:ln/>
        </p:spPr>
        <p:txBody>
          <a:bodyPr wrap="square" lIns="0" tIns="0" rIns="0" bIns="0" rtlCol="0" anchor="t"/>
          <a:lstStyle/>
          <a:p>
            <a:pPr algn="ctr" indent="0" marL="0">
              <a:buNone/>
            </a:pPr>
            <a:r>
              <a:rPr lang="en-US" sz="1200" dirty="0">
                <a:solidFill>
                  <a:schemeClr val="accent6"/>
                </a:solidFill>
              </a:rPr>
              <a:t>2.5 kHz alarm</a:t>
            </a:r>
            <a:endParaRPr lang="en-US" sz="1200" dirty="0"/>
          </a:p>
        </p:txBody>
      </p:sp>
      <p:sp>
        <p:nvSpPr>
          <p:cNvPr id="36" name="Arrow PWM · D3"/>
          <p:cNvSpPr/>
          <p:nvPr/>
        </p:nvSpPr>
        <p:spPr>
          <a:xfrm>
            <a:off x="7589520" y="3726180"/>
            <a:ext cx="1508760" cy="0"/>
          </a:xfrm>
          <a:prstGeom prst="line">
            <a:avLst/>
          </a:prstGeom>
          <a:noFill/>
          <a:ln w="25400">
            <a:solidFill>
              <a:schemeClr val="accent6"/>
            </a:solidFill>
            <a:prstDash val="solid"/>
            <a:tailEnd type="triangle"/>
          </a:ln>
        </p:spPr>
      </p:sp>
      <p:sp>
        <p:nvSpPr>
          <p:cNvPr id="37" name="Text 30"/>
          <p:cNvSpPr txBox="1"/>
          <p:nvPr/>
        </p:nvSpPr>
        <p:spPr>
          <a:xfrm>
            <a:off x="7406640" y="3378708"/>
            <a:ext cx="1874520" cy="274320"/>
          </a:xfrm>
          <a:prstGeom prst="rect">
            <a:avLst/>
          </a:prstGeom>
          <a:noFill/>
          <a:ln/>
        </p:spPr>
        <p:txBody>
          <a:bodyPr wrap="square" lIns="0" tIns="0" rIns="0" bIns="0" rtlCol="0" anchor="b"/>
          <a:lstStyle/>
          <a:p>
            <a:pPr algn="ctr" indent="0" marL="0">
              <a:buNone/>
            </a:pPr>
            <a:r>
              <a:rPr lang="en-US" sz="1200" dirty="0">
                <a:solidFill>
                  <a:schemeClr val="accent6"/>
                </a:solidFill>
              </a:rPr>
              <a:t>PWM · D3</a:t>
            </a:r>
            <a:endParaRPr lang="en-US" sz="1200" dirty="0"/>
          </a:p>
        </p:txBody>
      </p:sp>
      <p:sp>
        <p:nvSpPr>
          <p:cNvPr id="38" name="Laptop block"/>
          <p:cNvSpPr/>
          <p:nvPr/>
        </p:nvSpPr>
        <p:spPr>
          <a:xfrm>
            <a:off x="9098280" y="4663440"/>
            <a:ext cx="2544775" cy="1325880"/>
          </a:xfrm>
          <a:prstGeom prst="roundRect">
            <a:avLst>
              <a:gd name="adj" fmla="val 8276"/>
            </a:avLst>
          </a:prstGeom>
          <a:solidFill>
            <a:schemeClr val="bg2"/>
          </a:solidFill>
          <a:ln/>
        </p:spPr>
      </p:sp>
      <p:sp>
        <p:nvSpPr>
          <p:cNvPr id="39" name="Icon tile FaLaptop"/>
          <p:cNvSpPr/>
          <p:nvPr/>
        </p:nvSpPr>
        <p:spPr>
          <a:xfrm>
            <a:off x="10096348" y="4800600"/>
            <a:ext cx="548640" cy="548640"/>
          </a:xfrm>
          <a:prstGeom prst="roundRect">
            <a:avLst>
              <a:gd name="adj" fmla="val 22000"/>
            </a:avLst>
          </a:prstGeom>
          <a:solidFill>
            <a:schemeClr val="tx1"/>
          </a:solidFill>
          <a:ln/>
        </p:spPr>
      </p:sp>
      <p:pic>
        <p:nvPicPr>
          <p:cNvPr id="40" name="Image 5" descr="FaLaptop">    </p:cNvPr>
          <p:cNvPicPr>
            <a:picLocks noChangeAspect="1"/>
          </p:cNvPicPr>
          <p:nvPr/>
        </p:nvPicPr>
        <p:blipFill>
          <a:blip r:embed="rId6"/>
          <a:stretch>
            <a:fillRect/>
          </a:stretch>
        </p:blipFill>
        <p:spPr>
          <a:xfrm>
            <a:off x="10228021" y="4932274"/>
            <a:ext cx="285293" cy="285293"/>
          </a:xfrm>
          <a:prstGeom prst="rect">
            <a:avLst/>
          </a:prstGeom>
        </p:spPr>
      </p:pic>
      <p:sp>
        <p:nvSpPr>
          <p:cNvPr id="41" name="Text 33"/>
          <p:cNvSpPr txBox="1"/>
          <p:nvPr/>
        </p:nvSpPr>
        <p:spPr>
          <a:xfrm>
            <a:off x="9189720" y="5413248"/>
            <a:ext cx="2361895" cy="274320"/>
          </a:xfrm>
          <a:prstGeom prst="rect">
            <a:avLst/>
          </a:prstGeom>
          <a:noFill/>
          <a:ln/>
        </p:spPr>
        <p:txBody>
          <a:bodyPr wrap="square" lIns="0" tIns="0" rIns="0" bIns="0" rtlCol="0" anchor="t"/>
          <a:lstStyle/>
          <a:p>
            <a:pPr algn="ctr" indent="0" marL="0">
              <a:buNone/>
            </a:pPr>
            <a:r>
              <a:rPr lang="en-US" sz="1500" b="1" dirty="0">
                <a:solidFill>
                  <a:schemeClr val="tx1"/>
                </a:solidFill>
                <a:latin typeface="+mj-lt" pitchFamily="34" charset="0"/>
                <a:ea typeface="+mj-lt" pitchFamily="34" charset="-122"/>
                <a:cs typeface="+mj-lt" pitchFamily="34" charset="-120"/>
              </a:rPr>
              <a:t>Laptop</a:t>
            </a:r>
            <a:endParaRPr lang="en-US" sz="1500" dirty="0"/>
          </a:p>
        </p:txBody>
      </p:sp>
      <p:sp>
        <p:nvSpPr>
          <p:cNvPr id="42" name="Text 34"/>
          <p:cNvSpPr txBox="1"/>
          <p:nvPr/>
        </p:nvSpPr>
        <p:spPr>
          <a:xfrm>
            <a:off x="9189720" y="5669280"/>
            <a:ext cx="2361895" cy="256032"/>
          </a:xfrm>
          <a:prstGeom prst="rect">
            <a:avLst/>
          </a:prstGeom>
          <a:noFill/>
          <a:ln/>
        </p:spPr>
        <p:txBody>
          <a:bodyPr wrap="square" lIns="0" tIns="0" rIns="0" bIns="0" rtlCol="0" anchor="t"/>
          <a:lstStyle/>
          <a:p>
            <a:pPr algn="ctr" indent="0" marL="0">
              <a:buNone/>
            </a:pPr>
            <a:r>
              <a:rPr lang="en-US" sz="1200" dirty="0">
                <a:solidFill>
                  <a:schemeClr val="accent6"/>
                </a:solidFill>
              </a:rPr>
              <a:t>live readings</a:t>
            </a:r>
            <a:endParaRPr lang="en-US" sz="1200" dirty="0"/>
          </a:p>
        </p:txBody>
      </p:sp>
      <p:sp>
        <p:nvSpPr>
          <p:cNvPr id="43" name="Arrow USB · 115200 baud"/>
          <p:cNvSpPr/>
          <p:nvPr/>
        </p:nvSpPr>
        <p:spPr>
          <a:xfrm>
            <a:off x="7589520" y="5326380"/>
            <a:ext cx="1508760" cy="0"/>
          </a:xfrm>
          <a:prstGeom prst="line">
            <a:avLst/>
          </a:prstGeom>
          <a:noFill/>
          <a:ln w="25400">
            <a:solidFill>
              <a:schemeClr val="accent6"/>
            </a:solidFill>
            <a:prstDash val="solid"/>
            <a:tailEnd type="triangle"/>
          </a:ln>
        </p:spPr>
      </p:sp>
      <p:sp>
        <p:nvSpPr>
          <p:cNvPr id="44" name="Text 36"/>
          <p:cNvSpPr txBox="1"/>
          <p:nvPr/>
        </p:nvSpPr>
        <p:spPr>
          <a:xfrm>
            <a:off x="7406640" y="4978908"/>
            <a:ext cx="1874520" cy="274320"/>
          </a:xfrm>
          <a:prstGeom prst="rect">
            <a:avLst/>
          </a:prstGeom>
          <a:noFill/>
          <a:ln/>
        </p:spPr>
        <p:txBody>
          <a:bodyPr wrap="square" lIns="0" tIns="0" rIns="0" bIns="0" rtlCol="0" anchor="b"/>
          <a:lstStyle/>
          <a:p>
            <a:pPr algn="ctr" indent="0" marL="0">
              <a:buNone/>
            </a:pPr>
            <a:r>
              <a:rPr lang="en-US" sz="1200" dirty="0">
                <a:solidFill>
                  <a:schemeClr val="accent6"/>
                </a:solidFill>
              </a:rPr>
              <a:t>USB · 115200 baud</a:t>
            </a:r>
            <a:endParaRPr lang="en-US" sz="12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Two levels, no false alarms</a:t>
            </a:r>
            <a:endParaRPr lang="en-US" sz="3600" dirty="0"/>
          </a:p>
        </p:txBody>
      </p:sp>
      <p:sp>
        <p:nvSpPr>
          <p:cNvPr id="3" name="Gauge very toxic zone"/>
          <p:cNvSpPr/>
          <p:nvPr/>
        </p:nvSpPr>
        <p:spPr>
          <a:xfrm>
            <a:off x="731520" y="1737360"/>
            <a:ext cx="777240" cy="795528"/>
          </a:xfrm>
          <a:prstGeom prst="rect">
            <a:avLst/>
          </a:prstGeom>
          <a:solidFill>
            <a:schemeClr val="accent1"/>
          </a:solidFill>
          <a:ln/>
        </p:spPr>
      </p:sp>
      <p:sp>
        <p:nvSpPr>
          <p:cNvPr id="4" name="Gauge toxic zone"/>
          <p:cNvSpPr/>
          <p:nvPr/>
        </p:nvSpPr>
        <p:spPr>
          <a:xfrm>
            <a:off x="731520" y="2532888"/>
            <a:ext cx="777240" cy="1034186"/>
          </a:xfrm>
          <a:prstGeom prst="rect">
            <a:avLst/>
          </a:prstGeom>
          <a:solidFill>
            <a:schemeClr val="accent5"/>
          </a:solidFill>
          <a:ln/>
        </p:spPr>
      </p:sp>
      <p:sp>
        <p:nvSpPr>
          <p:cNvPr id="5" name="Gauge hysteresis zone"/>
          <p:cNvSpPr/>
          <p:nvPr/>
        </p:nvSpPr>
        <p:spPr>
          <a:xfrm>
            <a:off x="731520" y="3567074"/>
            <a:ext cx="777240" cy="636422"/>
          </a:xfrm>
          <a:prstGeom prst="rect">
            <a:avLst/>
          </a:prstGeom>
          <a:solidFill>
            <a:schemeClr val="accent5">
              <a:alpha val="40000"/>
            </a:schemeClr>
          </a:solidFill>
          <a:ln/>
        </p:spPr>
      </p:sp>
      <p:sp>
        <p:nvSpPr>
          <p:cNvPr id="6" name="Gauge normal zone"/>
          <p:cNvSpPr/>
          <p:nvPr/>
        </p:nvSpPr>
        <p:spPr>
          <a:xfrm>
            <a:off x="731520" y="4203497"/>
            <a:ext cx="777240" cy="1511503"/>
          </a:xfrm>
          <a:prstGeom prst="rect">
            <a:avLst/>
          </a:prstGeom>
          <a:solidFill>
            <a:schemeClr val="accent2"/>
          </a:solidFill>
          <a:ln/>
        </p:spPr>
      </p:sp>
      <p:sp>
        <p:nvSpPr>
          <p:cNvPr id="7" name="Gauge tick 1"/>
          <p:cNvSpPr/>
          <p:nvPr/>
        </p:nvSpPr>
        <p:spPr>
          <a:xfrm>
            <a:off x="1508760" y="2532888"/>
            <a:ext cx="274320" cy="0"/>
          </a:xfrm>
          <a:prstGeom prst="line">
            <a:avLst/>
          </a:prstGeom>
          <a:noFill/>
          <a:ln w="19050">
            <a:solidFill>
              <a:schemeClr val="tx1"/>
            </a:solidFill>
            <a:prstDash val="solid"/>
          </a:ln>
        </p:spPr>
      </p:sp>
      <p:sp>
        <p:nvSpPr>
          <p:cNvPr id="8" name="Text 6"/>
          <p:cNvSpPr txBox="1"/>
          <p:nvPr/>
        </p:nvSpPr>
        <p:spPr>
          <a:xfrm>
            <a:off x="1874520" y="2331720"/>
            <a:ext cx="2651760" cy="27432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3.0 V: Air Very Toxic</a:t>
            </a:r>
            <a:endParaRPr lang="en-US" sz="1500" dirty="0"/>
          </a:p>
        </p:txBody>
      </p:sp>
      <p:sp>
        <p:nvSpPr>
          <p:cNvPr id="9" name="Text 7"/>
          <p:cNvSpPr txBox="1"/>
          <p:nvPr/>
        </p:nvSpPr>
        <p:spPr>
          <a:xfrm>
            <a:off x="1874520" y="2606040"/>
            <a:ext cx="2651760" cy="274320"/>
          </a:xfrm>
          <a:prstGeom prst="rect">
            <a:avLst/>
          </a:prstGeom>
          <a:noFill/>
          <a:ln/>
        </p:spPr>
        <p:txBody>
          <a:bodyPr wrap="square" lIns="0" tIns="0" rIns="0" bIns="0" rtlCol="0" anchor="t"/>
          <a:lstStyle/>
          <a:p>
            <a:pPr indent="0" marL="0">
              <a:buNone/>
            </a:pPr>
            <a:r>
              <a:rPr lang="en-US" sz="1300" dirty="0">
                <a:solidFill>
                  <a:schemeClr val="accent6"/>
                </a:solidFill>
              </a:rPr>
              <a:t>bar full</a:t>
            </a:r>
            <a:endParaRPr lang="en-US" sz="1300" dirty="0"/>
          </a:p>
        </p:txBody>
      </p:sp>
      <p:sp>
        <p:nvSpPr>
          <p:cNvPr id="10" name="Gauge tick 2"/>
          <p:cNvSpPr/>
          <p:nvPr/>
        </p:nvSpPr>
        <p:spPr>
          <a:xfrm>
            <a:off x="1508760" y="3567074"/>
            <a:ext cx="274320" cy="0"/>
          </a:xfrm>
          <a:prstGeom prst="line">
            <a:avLst/>
          </a:prstGeom>
          <a:noFill/>
          <a:ln w="19050">
            <a:solidFill>
              <a:schemeClr val="tx1"/>
            </a:solidFill>
            <a:prstDash val="solid"/>
          </a:ln>
        </p:spPr>
      </p:sp>
      <p:sp>
        <p:nvSpPr>
          <p:cNvPr id="11" name="Text 9"/>
          <p:cNvSpPr txBox="1"/>
          <p:nvPr/>
        </p:nvSpPr>
        <p:spPr>
          <a:xfrm>
            <a:off x="1874520" y="3365906"/>
            <a:ext cx="2651760" cy="27432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2.0 V: Air Toxic</a:t>
            </a:r>
            <a:endParaRPr lang="en-US" sz="1500" dirty="0"/>
          </a:p>
        </p:txBody>
      </p:sp>
      <p:sp>
        <p:nvSpPr>
          <p:cNvPr id="12" name="Text 10"/>
          <p:cNvSpPr txBox="1"/>
          <p:nvPr/>
        </p:nvSpPr>
        <p:spPr>
          <a:xfrm>
            <a:off x="1874520" y="3640226"/>
            <a:ext cx="2651760" cy="274320"/>
          </a:xfrm>
          <a:prstGeom prst="rect">
            <a:avLst/>
          </a:prstGeom>
          <a:noFill/>
          <a:ln/>
        </p:spPr>
        <p:txBody>
          <a:bodyPr wrap="square" lIns="0" tIns="0" rIns="0" bIns="0" rtlCol="0" anchor="t"/>
          <a:lstStyle/>
          <a:p>
            <a:pPr indent="0" marL="0">
              <a:buNone/>
            </a:pPr>
            <a:r>
              <a:rPr lang="en-US" sz="1300" dirty="0">
                <a:solidFill>
                  <a:schemeClr val="accent6"/>
                </a:solidFill>
              </a:rPr>
              <a:t>alarm starts</a:t>
            </a:r>
            <a:endParaRPr lang="en-US" sz="1300" dirty="0"/>
          </a:p>
        </p:txBody>
      </p:sp>
      <p:sp>
        <p:nvSpPr>
          <p:cNvPr id="13" name="Gauge tick 3"/>
          <p:cNvSpPr/>
          <p:nvPr/>
        </p:nvSpPr>
        <p:spPr>
          <a:xfrm>
            <a:off x="1508760" y="4203497"/>
            <a:ext cx="274320" cy="0"/>
          </a:xfrm>
          <a:prstGeom prst="line">
            <a:avLst/>
          </a:prstGeom>
          <a:noFill/>
          <a:ln w="19050">
            <a:solidFill>
              <a:schemeClr val="tx1"/>
            </a:solidFill>
            <a:prstDash val="solid"/>
          </a:ln>
        </p:spPr>
      </p:sp>
      <p:sp>
        <p:nvSpPr>
          <p:cNvPr id="14" name="Text 12"/>
          <p:cNvSpPr txBox="1"/>
          <p:nvPr/>
        </p:nvSpPr>
        <p:spPr>
          <a:xfrm>
            <a:off x="1874520" y="4002329"/>
            <a:ext cx="2651760" cy="27432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1.8 V: alarm clears</a:t>
            </a:r>
            <a:endParaRPr lang="en-US" sz="1500" dirty="0"/>
          </a:p>
        </p:txBody>
      </p:sp>
      <p:sp>
        <p:nvSpPr>
          <p:cNvPr id="15" name="Text 13"/>
          <p:cNvSpPr txBox="1"/>
          <p:nvPr/>
        </p:nvSpPr>
        <p:spPr>
          <a:xfrm>
            <a:off x="1874520" y="4276649"/>
            <a:ext cx="2651760" cy="274320"/>
          </a:xfrm>
          <a:prstGeom prst="rect">
            <a:avLst/>
          </a:prstGeom>
          <a:noFill/>
          <a:ln/>
        </p:spPr>
        <p:txBody>
          <a:bodyPr wrap="square" lIns="0" tIns="0" rIns="0" bIns="0" rtlCol="0" anchor="t"/>
          <a:lstStyle/>
          <a:p>
            <a:pPr indent="0" marL="0">
              <a:buNone/>
            </a:pPr>
            <a:r>
              <a:rPr lang="en-US" sz="1300" dirty="0">
                <a:solidFill>
                  <a:schemeClr val="accent6"/>
                </a:solidFill>
              </a:rPr>
              <a:t>must drop below this</a:t>
            </a:r>
            <a:endParaRPr lang="en-US" sz="1300" dirty="0"/>
          </a:p>
        </p:txBody>
      </p:sp>
      <p:sp>
        <p:nvSpPr>
          <p:cNvPr id="16" name="Gauge tick 4"/>
          <p:cNvSpPr/>
          <p:nvPr/>
        </p:nvSpPr>
        <p:spPr>
          <a:xfrm>
            <a:off x="1508760" y="5715000"/>
            <a:ext cx="274320" cy="0"/>
          </a:xfrm>
          <a:prstGeom prst="line">
            <a:avLst/>
          </a:prstGeom>
          <a:noFill/>
          <a:ln w="19050">
            <a:solidFill>
              <a:schemeClr val="tx1"/>
            </a:solidFill>
            <a:prstDash val="solid"/>
          </a:ln>
        </p:spPr>
      </p:sp>
      <p:sp>
        <p:nvSpPr>
          <p:cNvPr id="17" name="Text 15"/>
          <p:cNvSpPr txBox="1"/>
          <p:nvPr/>
        </p:nvSpPr>
        <p:spPr>
          <a:xfrm>
            <a:off x="1874520" y="5513832"/>
            <a:ext cx="2651760" cy="27432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Clean-air baseline</a:t>
            </a:r>
            <a:endParaRPr lang="en-US" sz="1500" dirty="0"/>
          </a:p>
        </p:txBody>
      </p:sp>
      <p:sp>
        <p:nvSpPr>
          <p:cNvPr id="18" name="Text 16"/>
          <p:cNvSpPr txBox="1"/>
          <p:nvPr/>
        </p:nvSpPr>
        <p:spPr>
          <a:xfrm>
            <a:off x="1874520" y="5788152"/>
            <a:ext cx="2651760" cy="274320"/>
          </a:xfrm>
          <a:prstGeom prst="rect">
            <a:avLst/>
          </a:prstGeom>
          <a:noFill/>
          <a:ln/>
        </p:spPr>
        <p:txBody>
          <a:bodyPr wrap="square" lIns="0" tIns="0" rIns="0" bIns="0" rtlCol="0" anchor="t"/>
          <a:lstStyle/>
          <a:p>
            <a:pPr indent="0" marL="0">
              <a:buNone/>
            </a:pPr>
            <a:r>
              <a:rPr lang="en-US" sz="1300" dirty="0">
                <a:solidFill>
                  <a:schemeClr val="accent6"/>
                </a:solidFill>
              </a:rPr>
              <a:t>bar empty (calibrated)</a:t>
            </a:r>
            <a:endParaRPr lang="en-US" sz="1300" dirty="0"/>
          </a:p>
        </p:txBody>
      </p:sp>
      <p:sp>
        <p:nvSpPr>
          <p:cNvPr id="19" name="Point 1 badge"/>
          <p:cNvSpPr/>
          <p:nvPr/>
        </p:nvSpPr>
        <p:spPr>
          <a:xfrm>
            <a:off x="4892040" y="1737360"/>
            <a:ext cx="502920" cy="502920"/>
          </a:xfrm>
          <a:prstGeom prst="ellipse">
            <a:avLst/>
          </a:prstGeom>
          <a:solidFill>
            <a:schemeClr val="tx1"/>
          </a:solidFill>
          <a:ln/>
        </p:spPr>
      </p:sp>
      <p:sp>
        <p:nvSpPr>
          <p:cNvPr id="20" name="Text 18"/>
          <p:cNvSpPr txBox="1"/>
          <p:nvPr/>
        </p:nvSpPr>
        <p:spPr>
          <a:xfrm>
            <a:off x="4892040" y="17373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latin typeface="+mj-lt" pitchFamily="34" charset="0"/>
                <a:ea typeface="+mj-lt" pitchFamily="34" charset="-122"/>
                <a:cs typeface="+mj-lt" pitchFamily="34" charset="-120"/>
              </a:rPr>
              <a:t>1</a:t>
            </a:r>
            <a:endParaRPr lang="en-US" sz="1800" dirty="0"/>
          </a:p>
        </p:txBody>
      </p:sp>
      <p:sp>
        <p:nvSpPr>
          <p:cNvPr id="21" name="Text 19"/>
          <p:cNvSpPr txBox="1"/>
          <p:nvPr/>
        </p:nvSpPr>
        <p:spPr>
          <a:xfrm>
            <a:off x="5623560" y="1700784"/>
            <a:ext cx="6019495" cy="347472"/>
          </a:xfrm>
          <a:prstGeom prst="rect">
            <a:avLst/>
          </a:prstGeom>
          <a:noFill/>
          <a:ln/>
        </p:spPr>
        <p:txBody>
          <a:bodyPr wrap="square" lIns="0" tIns="0" rIns="0" bIns="0" rtlCol="0" anchor="t"/>
          <a:lstStyle/>
          <a:p>
            <a:pPr indent="0" marL="0">
              <a:buNone/>
            </a:pPr>
            <a:r>
              <a:rPr lang="en-US" sz="1900" b="1" dirty="0">
                <a:solidFill>
                  <a:schemeClr val="tx1"/>
                </a:solidFill>
                <a:latin typeface="+mj-lt" pitchFamily="34" charset="0"/>
                <a:ea typeface="+mj-lt" pitchFamily="34" charset="-122"/>
                <a:cs typeface="+mj-lt" pitchFamily="34" charset="-120"/>
              </a:rPr>
              <a:t>10 s warm-up</a:t>
            </a:r>
            <a:endParaRPr lang="en-US" sz="1900" dirty="0"/>
          </a:p>
        </p:txBody>
      </p:sp>
      <p:sp>
        <p:nvSpPr>
          <p:cNvPr id="22" name="Text 20"/>
          <p:cNvSpPr txBox="1"/>
          <p:nvPr/>
        </p:nvSpPr>
        <p:spPr>
          <a:xfrm>
            <a:off x="5623560" y="2066544"/>
            <a:ext cx="6019495" cy="548640"/>
          </a:xfrm>
          <a:prstGeom prst="rect">
            <a:avLst/>
          </a:prstGeom>
          <a:noFill/>
          <a:ln/>
        </p:spPr>
        <p:txBody>
          <a:bodyPr wrap="square" lIns="0" tIns="0" rIns="0" bIns="0" rtlCol="0" anchor="t"/>
          <a:lstStyle/>
          <a:p>
            <a:pPr indent="0" marL="0">
              <a:buNone/>
            </a:pPr>
            <a:r>
              <a:rPr lang="en-US" sz="1500" dirty="0">
                <a:solidFill>
                  <a:schemeClr val="accent6"/>
                </a:solidFill>
              </a:rPr>
              <a:t>Readings are ignored while the sensor's heater settles, so power-up never trips the alarm.</a:t>
            </a:r>
            <a:endParaRPr lang="en-US" sz="1500" dirty="0"/>
          </a:p>
        </p:txBody>
      </p:sp>
      <p:sp>
        <p:nvSpPr>
          <p:cNvPr id="23" name="Point 2 badge"/>
          <p:cNvSpPr/>
          <p:nvPr/>
        </p:nvSpPr>
        <p:spPr>
          <a:xfrm>
            <a:off x="4892040" y="2834640"/>
            <a:ext cx="502920" cy="502920"/>
          </a:xfrm>
          <a:prstGeom prst="ellipse">
            <a:avLst/>
          </a:prstGeom>
          <a:solidFill>
            <a:schemeClr val="tx1"/>
          </a:solidFill>
          <a:ln/>
        </p:spPr>
      </p:sp>
      <p:sp>
        <p:nvSpPr>
          <p:cNvPr id="24" name="Text 22"/>
          <p:cNvSpPr txBox="1"/>
          <p:nvPr/>
        </p:nvSpPr>
        <p:spPr>
          <a:xfrm>
            <a:off x="4892040" y="28346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latin typeface="+mj-lt" pitchFamily="34" charset="0"/>
                <a:ea typeface="+mj-lt" pitchFamily="34" charset="-122"/>
                <a:cs typeface="+mj-lt" pitchFamily="34" charset="-120"/>
              </a:rPr>
              <a:t>2</a:t>
            </a:r>
            <a:endParaRPr lang="en-US" sz="1800" dirty="0"/>
          </a:p>
        </p:txBody>
      </p:sp>
      <p:sp>
        <p:nvSpPr>
          <p:cNvPr id="25" name="Text 23"/>
          <p:cNvSpPr txBox="1"/>
          <p:nvPr/>
        </p:nvSpPr>
        <p:spPr>
          <a:xfrm>
            <a:off x="5623560" y="2798064"/>
            <a:ext cx="6019495" cy="347472"/>
          </a:xfrm>
          <a:prstGeom prst="rect">
            <a:avLst/>
          </a:prstGeom>
          <a:noFill/>
          <a:ln/>
        </p:spPr>
        <p:txBody>
          <a:bodyPr wrap="square" lIns="0" tIns="0" rIns="0" bIns="0" rtlCol="0" anchor="t"/>
          <a:lstStyle/>
          <a:p>
            <a:pPr indent="0" marL="0">
              <a:buNone/>
            </a:pPr>
            <a:r>
              <a:rPr lang="en-US" sz="1900" b="1" dirty="0">
                <a:solidFill>
                  <a:schemeClr val="tx1"/>
                </a:solidFill>
                <a:latin typeface="+mj-lt" pitchFamily="34" charset="0"/>
                <a:ea typeface="+mj-lt" pitchFamily="34" charset="-122"/>
                <a:cs typeface="+mj-lt" pitchFamily="34" charset="-120"/>
              </a:rPr>
              <a:t>16-sample average</a:t>
            </a:r>
            <a:endParaRPr lang="en-US" sz="1900" dirty="0"/>
          </a:p>
        </p:txBody>
      </p:sp>
      <p:sp>
        <p:nvSpPr>
          <p:cNvPr id="26" name="Text 24"/>
          <p:cNvSpPr txBox="1"/>
          <p:nvPr/>
        </p:nvSpPr>
        <p:spPr>
          <a:xfrm>
            <a:off x="5623560" y="3163824"/>
            <a:ext cx="6019495" cy="548640"/>
          </a:xfrm>
          <a:prstGeom prst="rect">
            <a:avLst/>
          </a:prstGeom>
          <a:noFill/>
          <a:ln/>
        </p:spPr>
        <p:txBody>
          <a:bodyPr wrap="square" lIns="0" tIns="0" rIns="0" bIns="0" rtlCol="0" anchor="t"/>
          <a:lstStyle/>
          <a:p>
            <a:pPr indent="0" marL="0">
              <a:buNone/>
            </a:pPr>
            <a:r>
              <a:rPr lang="en-US" sz="1500" dirty="0">
                <a:solidFill>
                  <a:schemeClr val="accent6"/>
                </a:solidFill>
              </a:rPr>
              <a:t>Each reading averages 16 ADC samples, smoothing out electrical noise.</a:t>
            </a:r>
            <a:endParaRPr lang="en-US" sz="1500" dirty="0"/>
          </a:p>
        </p:txBody>
      </p:sp>
      <p:sp>
        <p:nvSpPr>
          <p:cNvPr id="27" name="Point 3 badge"/>
          <p:cNvSpPr/>
          <p:nvPr/>
        </p:nvSpPr>
        <p:spPr>
          <a:xfrm>
            <a:off x="4892040" y="3931920"/>
            <a:ext cx="502920" cy="502920"/>
          </a:xfrm>
          <a:prstGeom prst="ellipse">
            <a:avLst/>
          </a:prstGeom>
          <a:solidFill>
            <a:schemeClr val="tx1"/>
          </a:solidFill>
          <a:ln/>
        </p:spPr>
      </p:sp>
      <p:sp>
        <p:nvSpPr>
          <p:cNvPr id="28" name="Text 26"/>
          <p:cNvSpPr txBox="1"/>
          <p:nvPr/>
        </p:nvSpPr>
        <p:spPr>
          <a:xfrm>
            <a:off x="4892040" y="39319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latin typeface="+mj-lt" pitchFamily="34" charset="0"/>
                <a:ea typeface="+mj-lt" pitchFamily="34" charset="-122"/>
                <a:cs typeface="+mj-lt" pitchFamily="34" charset="-120"/>
              </a:rPr>
              <a:t>3</a:t>
            </a:r>
            <a:endParaRPr lang="en-US" sz="1800" dirty="0"/>
          </a:p>
        </p:txBody>
      </p:sp>
      <p:sp>
        <p:nvSpPr>
          <p:cNvPr id="29" name="Text 27"/>
          <p:cNvSpPr txBox="1"/>
          <p:nvPr/>
        </p:nvSpPr>
        <p:spPr>
          <a:xfrm>
            <a:off x="5623560" y="3895344"/>
            <a:ext cx="6019495" cy="347472"/>
          </a:xfrm>
          <a:prstGeom prst="rect">
            <a:avLst/>
          </a:prstGeom>
          <a:noFill/>
          <a:ln/>
        </p:spPr>
        <p:txBody>
          <a:bodyPr wrap="square" lIns="0" tIns="0" rIns="0" bIns="0" rtlCol="0" anchor="t"/>
          <a:lstStyle/>
          <a:p>
            <a:pPr indent="0" marL="0">
              <a:buNone/>
            </a:pPr>
            <a:r>
              <a:rPr lang="en-US" sz="1900" b="1" dirty="0">
                <a:solidFill>
                  <a:schemeClr val="tx1"/>
                </a:solidFill>
                <a:latin typeface="+mj-lt" pitchFamily="34" charset="0"/>
                <a:ea typeface="+mj-lt" pitchFamily="34" charset="-122"/>
                <a:cs typeface="+mj-lt" pitchFamily="34" charset="-120"/>
              </a:rPr>
              <a:t>Hysteresis</a:t>
            </a:r>
            <a:endParaRPr lang="en-US" sz="1900" dirty="0"/>
          </a:p>
        </p:txBody>
      </p:sp>
      <p:sp>
        <p:nvSpPr>
          <p:cNvPr id="30" name="Text 28"/>
          <p:cNvSpPr txBox="1"/>
          <p:nvPr/>
        </p:nvSpPr>
        <p:spPr>
          <a:xfrm>
            <a:off x="5623560" y="4261104"/>
            <a:ext cx="6019495" cy="548640"/>
          </a:xfrm>
          <a:prstGeom prst="rect">
            <a:avLst/>
          </a:prstGeom>
          <a:noFill/>
          <a:ln/>
        </p:spPr>
        <p:txBody>
          <a:bodyPr wrap="square" lIns="0" tIns="0" rIns="0" bIns="0" rtlCol="0" anchor="t"/>
          <a:lstStyle/>
          <a:p>
            <a:pPr indent="0" marL="0">
              <a:buNone/>
            </a:pPr>
            <a:r>
              <a:rPr lang="en-US" sz="1500" dirty="0">
                <a:solidFill>
                  <a:schemeClr val="accent6"/>
                </a:solidFill>
              </a:rPr>
              <a:t>Trips at 2.0 V but only clears below 1.8 V, so it can't flicker at the edge.</a:t>
            </a:r>
            <a:endParaRPr lang="en-US" sz="1500" dirty="0"/>
          </a:p>
        </p:txBody>
      </p:sp>
      <p:sp>
        <p:nvSpPr>
          <p:cNvPr id="31" name="Point 4 badge"/>
          <p:cNvSpPr/>
          <p:nvPr/>
        </p:nvSpPr>
        <p:spPr>
          <a:xfrm>
            <a:off x="4892040" y="5029200"/>
            <a:ext cx="502920" cy="502920"/>
          </a:xfrm>
          <a:prstGeom prst="ellipse">
            <a:avLst/>
          </a:prstGeom>
          <a:solidFill>
            <a:schemeClr val="tx1"/>
          </a:solidFill>
          <a:ln/>
        </p:spPr>
      </p:sp>
      <p:sp>
        <p:nvSpPr>
          <p:cNvPr id="32" name="Text 30"/>
          <p:cNvSpPr txBox="1"/>
          <p:nvPr/>
        </p:nvSpPr>
        <p:spPr>
          <a:xfrm>
            <a:off x="4892040" y="50292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latin typeface="+mj-lt" pitchFamily="34" charset="0"/>
                <a:ea typeface="+mj-lt" pitchFamily="34" charset="-122"/>
                <a:cs typeface="+mj-lt" pitchFamily="34" charset="-120"/>
              </a:rPr>
              <a:t>4</a:t>
            </a:r>
            <a:endParaRPr lang="en-US" sz="1800" dirty="0"/>
          </a:p>
        </p:txBody>
      </p:sp>
      <p:sp>
        <p:nvSpPr>
          <p:cNvPr id="33" name="Text 31"/>
          <p:cNvSpPr txBox="1"/>
          <p:nvPr/>
        </p:nvSpPr>
        <p:spPr>
          <a:xfrm>
            <a:off x="5623560" y="4992624"/>
            <a:ext cx="6019495" cy="347472"/>
          </a:xfrm>
          <a:prstGeom prst="rect">
            <a:avLst/>
          </a:prstGeom>
          <a:noFill/>
          <a:ln/>
        </p:spPr>
        <p:txBody>
          <a:bodyPr wrap="square" lIns="0" tIns="0" rIns="0" bIns="0" rtlCol="0" anchor="t"/>
          <a:lstStyle/>
          <a:p>
            <a:pPr indent="0" marL="0">
              <a:buNone/>
            </a:pPr>
            <a:r>
              <a:rPr lang="en-US" sz="1900" b="1" dirty="0">
                <a:solidFill>
                  <a:schemeClr val="tx1"/>
                </a:solidFill>
                <a:latin typeface="+mj-lt" pitchFamily="34" charset="0"/>
                <a:ea typeface="+mj-lt" pitchFamily="34" charset="-122"/>
                <a:cs typeface="+mj-lt" pitchFamily="34" charset="-120"/>
              </a:rPr>
              <a:t>Calibrated baseline</a:t>
            </a:r>
            <a:endParaRPr lang="en-US" sz="1900" dirty="0"/>
          </a:p>
        </p:txBody>
      </p:sp>
      <p:sp>
        <p:nvSpPr>
          <p:cNvPr id="34" name="Text 32"/>
          <p:cNvSpPr txBox="1"/>
          <p:nvPr/>
        </p:nvSpPr>
        <p:spPr>
          <a:xfrm>
            <a:off x="5623560" y="5358384"/>
            <a:ext cx="6019495" cy="548640"/>
          </a:xfrm>
          <a:prstGeom prst="rect">
            <a:avLst/>
          </a:prstGeom>
          <a:noFill/>
          <a:ln/>
        </p:spPr>
        <p:txBody>
          <a:bodyPr wrap="square" lIns="0" tIns="0" rIns="0" bIns="0" rtlCol="0" anchor="t"/>
          <a:lstStyle/>
          <a:p>
            <a:pPr indent="0" marL="0">
              <a:buNone/>
            </a:pPr>
            <a:r>
              <a:rPr lang="en-US" sz="1500" dirty="0">
                <a:solidFill>
                  <a:schemeClr val="accent6"/>
                </a:solidFill>
              </a:rPr>
              <a:t>The bar's zero is set from a real clean-air reading, so the bar only rises when the air changes.</a:t>
            </a:r>
            <a:endParaRPr lang="en-US" sz="15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By the numbers</a:t>
            </a:r>
            <a:endParaRPr lang="en-US" sz="3600" dirty="0"/>
          </a:p>
        </p:txBody>
      </p:sp>
      <p:sp>
        <p:nvSpPr>
          <p:cNvPr id="3" name="Stat card 1"/>
          <p:cNvSpPr/>
          <p:nvPr/>
        </p:nvSpPr>
        <p:spPr>
          <a:xfrm>
            <a:off x="548640" y="2011680"/>
            <a:ext cx="2567864" cy="3291840"/>
          </a:xfrm>
          <a:prstGeom prst="roundRect">
            <a:avLst>
              <a:gd name="adj" fmla="val 5341"/>
            </a:avLst>
          </a:prstGeom>
          <a:solidFill>
            <a:schemeClr val="bg2"/>
          </a:solidFill>
          <a:ln/>
        </p:spPr>
      </p:sp>
      <p:sp>
        <p:nvSpPr>
          <p:cNvPr id="4" name="Stat 1 value"/>
          <p:cNvSpPr txBox="1"/>
          <p:nvPr/>
        </p:nvSpPr>
        <p:spPr>
          <a:xfrm>
            <a:off x="822960" y="2377440"/>
            <a:ext cx="2019224" cy="1188720"/>
          </a:xfrm>
          <a:prstGeom prst="rect">
            <a:avLst/>
          </a:prstGeom>
          <a:noFill/>
          <a:ln/>
        </p:spPr>
        <p:txBody>
          <a:bodyPr wrap="square" lIns="0" tIns="0" rIns="0" bIns="0" rtlCol="0" anchor="b"/>
          <a:lstStyle/>
          <a:p>
            <a:pPr indent="0" marL="0">
              <a:buNone/>
            </a:pPr>
            <a:r>
              <a:rPr lang="en-US" sz="6600" b="1" dirty="0">
                <a:solidFill>
                  <a:schemeClr val="accent1"/>
                </a:solidFill>
                <a:latin typeface="+mj-lt" pitchFamily="34" charset="0"/>
                <a:ea typeface="+mj-lt" pitchFamily="34" charset="-122"/>
                <a:cs typeface="+mj-lt" pitchFamily="34" charset="-120"/>
              </a:rPr>
              <a:t>4</a:t>
            </a:r>
            <a:pPr indent="0" marL="0">
              <a:buNone/>
            </a:pPr>
            <a:r>
              <a:rPr lang="en-US" sz="2600" b="1" dirty="0">
                <a:solidFill>
                  <a:schemeClr val="tx1"/>
                </a:solidFill>
                <a:latin typeface="+mj-lt" pitchFamily="34" charset="0"/>
                <a:ea typeface="+mj-lt" pitchFamily="34" charset="-122"/>
                <a:cs typeface="+mj-lt" pitchFamily="34" charset="-120"/>
              </a:rPr>
              <a:t> / s</a:t>
            </a:r>
            <a:endParaRPr lang="en-US" sz="6600" dirty="0"/>
          </a:p>
        </p:txBody>
      </p:sp>
      <p:sp>
        <p:nvSpPr>
          <p:cNvPr id="5" name="Text 3"/>
          <p:cNvSpPr txBox="1"/>
          <p:nvPr/>
        </p:nvSpPr>
        <p:spPr>
          <a:xfrm>
            <a:off x="822960" y="3794760"/>
            <a:ext cx="2019224" cy="1280160"/>
          </a:xfrm>
          <a:prstGeom prst="rect">
            <a:avLst/>
          </a:prstGeom>
          <a:noFill/>
          <a:ln/>
        </p:spPr>
        <p:txBody>
          <a:bodyPr wrap="square" lIns="0" tIns="0" rIns="0" bIns="0" rtlCol="0" anchor="t"/>
          <a:lstStyle/>
          <a:p>
            <a:pPr indent="0" marL="0">
              <a:buNone/>
            </a:pPr>
            <a:r>
              <a:rPr lang="en-US" sz="1800" dirty="0">
                <a:solidFill>
                  <a:schemeClr val="accent6"/>
                </a:solidFill>
              </a:rPr>
              <a:t>sensor readings and screen updates every second</a:t>
            </a:r>
            <a:endParaRPr lang="en-US" sz="1800" dirty="0"/>
          </a:p>
        </p:txBody>
      </p:sp>
      <p:sp>
        <p:nvSpPr>
          <p:cNvPr id="6" name="Stat card 2"/>
          <p:cNvSpPr/>
          <p:nvPr/>
        </p:nvSpPr>
        <p:spPr>
          <a:xfrm>
            <a:off x="3390824" y="2011680"/>
            <a:ext cx="2567864" cy="3291840"/>
          </a:xfrm>
          <a:prstGeom prst="roundRect">
            <a:avLst>
              <a:gd name="adj" fmla="val 5341"/>
            </a:avLst>
          </a:prstGeom>
          <a:solidFill>
            <a:schemeClr val="bg2"/>
          </a:solidFill>
          <a:ln/>
        </p:spPr>
      </p:sp>
      <p:sp>
        <p:nvSpPr>
          <p:cNvPr id="7" name="Stat 2 value"/>
          <p:cNvSpPr txBox="1"/>
          <p:nvPr/>
        </p:nvSpPr>
        <p:spPr>
          <a:xfrm>
            <a:off x="3665144" y="2377440"/>
            <a:ext cx="2019224" cy="1188720"/>
          </a:xfrm>
          <a:prstGeom prst="rect">
            <a:avLst/>
          </a:prstGeom>
          <a:noFill/>
          <a:ln/>
        </p:spPr>
        <p:txBody>
          <a:bodyPr wrap="square" lIns="0" tIns="0" rIns="0" bIns="0" rtlCol="0" anchor="b"/>
          <a:lstStyle/>
          <a:p>
            <a:pPr indent="0" marL="0">
              <a:buNone/>
            </a:pPr>
            <a:r>
              <a:rPr lang="en-US" sz="6600" b="1" dirty="0">
                <a:solidFill>
                  <a:schemeClr val="accent1"/>
                </a:solidFill>
                <a:latin typeface="+mj-lt" pitchFamily="34" charset="0"/>
                <a:ea typeface="+mj-lt" pitchFamily="34" charset="-122"/>
                <a:cs typeface="+mj-lt" pitchFamily="34" charset="-120"/>
              </a:rPr>
              <a:t>30</a:t>
            </a:r>
            <a:pPr indent="0" marL="0">
              <a:buNone/>
            </a:pPr>
            <a:r>
              <a:rPr lang="en-US" sz="2600" b="1" dirty="0">
                <a:solidFill>
                  <a:schemeClr val="tx1"/>
                </a:solidFill>
                <a:latin typeface="+mj-lt" pitchFamily="34" charset="0"/>
                <a:ea typeface="+mj-lt" pitchFamily="34" charset="-122"/>
                <a:cs typeface="+mj-lt" pitchFamily="34" charset="-120"/>
              </a:rPr>
              <a:t> steps</a:t>
            </a:r>
            <a:endParaRPr lang="en-US" sz="6600" dirty="0"/>
          </a:p>
        </p:txBody>
      </p:sp>
      <p:sp>
        <p:nvSpPr>
          <p:cNvPr id="8" name="Text 6"/>
          <p:cNvSpPr txBox="1"/>
          <p:nvPr/>
        </p:nvSpPr>
        <p:spPr>
          <a:xfrm>
            <a:off x="3665144" y="3794760"/>
            <a:ext cx="2019224" cy="1280160"/>
          </a:xfrm>
          <a:prstGeom prst="rect">
            <a:avLst/>
          </a:prstGeom>
          <a:noFill/>
          <a:ln/>
        </p:spPr>
        <p:txBody>
          <a:bodyPr wrap="square" lIns="0" tIns="0" rIns="0" bIns="0" rtlCol="0" anchor="t"/>
          <a:lstStyle/>
          <a:p>
            <a:pPr indent="0" marL="0">
              <a:buNone/>
            </a:pPr>
            <a:r>
              <a:rPr lang="en-US" sz="1800" dirty="0">
                <a:solidFill>
                  <a:schemeClr val="accent6"/>
                </a:solidFill>
              </a:rPr>
              <a:t>on the level bar: 6 characters × 5 pixel columns</a:t>
            </a:r>
            <a:endParaRPr lang="en-US" sz="1800" dirty="0"/>
          </a:p>
        </p:txBody>
      </p:sp>
      <p:sp>
        <p:nvSpPr>
          <p:cNvPr id="9" name="Stat card 3"/>
          <p:cNvSpPr/>
          <p:nvPr/>
        </p:nvSpPr>
        <p:spPr>
          <a:xfrm>
            <a:off x="6233008" y="2011680"/>
            <a:ext cx="2567864" cy="3291840"/>
          </a:xfrm>
          <a:prstGeom prst="roundRect">
            <a:avLst>
              <a:gd name="adj" fmla="val 5341"/>
            </a:avLst>
          </a:prstGeom>
          <a:solidFill>
            <a:schemeClr val="bg2"/>
          </a:solidFill>
          <a:ln/>
        </p:spPr>
      </p:sp>
      <p:sp>
        <p:nvSpPr>
          <p:cNvPr id="10" name="Stat 3 value"/>
          <p:cNvSpPr txBox="1"/>
          <p:nvPr/>
        </p:nvSpPr>
        <p:spPr>
          <a:xfrm>
            <a:off x="6507328" y="2377440"/>
            <a:ext cx="2019224" cy="1188720"/>
          </a:xfrm>
          <a:prstGeom prst="rect">
            <a:avLst/>
          </a:prstGeom>
          <a:noFill/>
          <a:ln/>
        </p:spPr>
        <p:txBody>
          <a:bodyPr wrap="square" lIns="0" tIns="0" rIns="0" bIns="0" rtlCol="0" anchor="b"/>
          <a:lstStyle/>
          <a:p>
            <a:pPr indent="0" marL="0">
              <a:buNone/>
            </a:pPr>
            <a:r>
              <a:rPr lang="en-US" sz="6600" b="1" dirty="0">
                <a:solidFill>
                  <a:schemeClr val="accent1"/>
                </a:solidFill>
                <a:latin typeface="+mj-lt" pitchFamily="34" charset="0"/>
                <a:ea typeface="+mj-lt" pitchFamily="34" charset="-122"/>
                <a:cs typeface="+mj-lt" pitchFamily="34" charset="-120"/>
              </a:rPr>
              <a:t>2.5</a:t>
            </a:r>
            <a:pPr indent="0" marL="0">
              <a:buNone/>
            </a:pPr>
            <a:r>
              <a:rPr lang="en-US" sz="2600" b="1" dirty="0">
                <a:solidFill>
                  <a:schemeClr val="tx1"/>
                </a:solidFill>
                <a:latin typeface="+mj-lt" pitchFamily="34" charset="0"/>
                <a:ea typeface="+mj-lt" pitchFamily="34" charset="-122"/>
                <a:cs typeface="+mj-lt" pitchFamily="34" charset="-120"/>
              </a:rPr>
              <a:t> kHz</a:t>
            </a:r>
            <a:endParaRPr lang="en-US" sz="6600" dirty="0"/>
          </a:p>
        </p:txBody>
      </p:sp>
      <p:sp>
        <p:nvSpPr>
          <p:cNvPr id="11" name="Text 9"/>
          <p:cNvSpPr txBox="1"/>
          <p:nvPr/>
        </p:nvSpPr>
        <p:spPr>
          <a:xfrm>
            <a:off x="6507328" y="3794760"/>
            <a:ext cx="2019224" cy="1280160"/>
          </a:xfrm>
          <a:prstGeom prst="rect">
            <a:avLst/>
          </a:prstGeom>
          <a:noFill/>
          <a:ln/>
        </p:spPr>
        <p:txBody>
          <a:bodyPr wrap="square" lIns="0" tIns="0" rIns="0" bIns="0" rtlCol="0" anchor="t"/>
          <a:lstStyle/>
          <a:p>
            <a:pPr indent="0" marL="0">
              <a:buNone/>
            </a:pPr>
            <a:r>
              <a:rPr lang="en-US" sz="1800" dirty="0">
                <a:solidFill>
                  <a:schemeClr val="accent6"/>
                </a:solidFill>
              </a:rPr>
              <a:t>alarm tone, beeping twice a second with the backlight</a:t>
            </a:r>
            <a:endParaRPr lang="en-US" sz="1800" dirty="0"/>
          </a:p>
        </p:txBody>
      </p:sp>
      <p:sp>
        <p:nvSpPr>
          <p:cNvPr id="12" name="Stat card 4"/>
          <p:cNvSpPr/>
          <p:nvPr/>
        </p:nvSpPr>
        <p:spPr>
          <a:xfrm>
            <a:off x="9075191" y="2011680"/>
            <a:ext cx="2567864" cy="3291840"/>
          </a:xfrm>
          <a:prstGeom prst="roundRect">
            <a:avLst>
              <a:gd name="adj" fmla="val 5341"/>
            </a:avLst>
          </a:prstGeom>
          <a:solidFill>
            <a:schemeClr val="bg2"/>
          </a:solidFill>
          <a:ln/>
        </p:spPr>
      </p:sp>
      <p:sp>
        <p:nvSpPr>
          <p:cNvPr id="13" name="Stat 4 value"/>
          <p:cNvSpPr txBox="1"/>
          <p:nvPr/>
        </p:nvSpPr>
        <p:spPr>
          <a:xfrm>
            <a:off x="9349511" y="2377440"/>
            <a:ext cx="2019224" cy="1188720"/>
          </a:xfrm>
          <a:prstGeom prst="rect">
            <a:avLst/>
          </a:prstGeom>
          <a:noFill/>
          <a:ln/>
        </p:spPr>
        <p:txBody>
          <a:bodyPr wrap="square" lIns="0" tIns="0" rIns="0" bIns="0" rtlCol="0" anchor="b"/>
          <a:lstStyle/>
          <a:p>
            <a:pPr indent="0" marL="0">
              <a:buNone/>
            </a:pPr>
            <a:r>
              <a:rPr lang="en-US" sz="6600" b="1" dirty="0">
                <a:solidFill>
                  <a:schemeClr val="accent1"/>
                </a:solidFill>
                <a:latin typeface="+mj-lt" pitchFamily="34" charset="0"/>
                <a:ea typeface="+mj-lt" pitchFamily="34" charset="-122"/>
                <a:cs typeface="+mj-lt" pitchFamily="34" charset="-120"/>
              </a:rPr>
              <a:t>34</a:t>
            </a:r>
            <a:pPr indent="0" marL="0">
              <a:buNone/>
            </a:pPr>
            <a:r>
              <a:rPr lang="en-US" sz="2600" b="1" dirty="0">
                <a:solidFill>
                  <a:schemeClr val="tx1"/>
                </a:solidFill>
                <a:latin typeface="+mj-lt" pitchFamily="34" charset="0"/>
                <a:ea typeface="+mj-lt" pitchFamily="34" charset="-122"/>
                <a:cs typeface="+mj-lt" pitchFamily="34" charset="-120"/>
              </a:rPr>
              <a:t> KB</a:t>
            </a:r>
            <a:endParaRPr lang="en-US" sz="6600" dirty="0"/>
          </a:p>
        </p:txBody>
      </p:sp>
      <p:sp>
        <p:nvSpPr>
          <p:cNvPr id="14" name="Text 12"/>
          <p:cNvSpPr txBox="1"/>
          <p:nvPr/>
        </p:nvSpPr>
        <p:spPr>
          <a:xfrm>
            <a:off x="9349511" y="3794760"/>
            <a:ext cx="2019224" cy="1280160"/>
          </a:xfrm>
          <a:prstGeom prst="rect">
            <a:avLst/>
          </a:prstGeom>
          <a:noFill/>
          <a:ln/>
        </p:spPr>
        <p:txBody>
          <a:bodyPr wrap="square" lIns="0" tIns="0" rIns="0" bIns="0" rtlCol="0" anchor="t"/>
          <a:lstStyle/>
          <a:p>
            <a:pPr indent="0" marL="0">
              <a:buNone/>
            </a:pPr>
            <a:r>
              <a:rPr lang="en-US" sz="1800" dirty="0">
                <a:solidFill>
                  <a:schemeClr val="accent6"/>
                </a:solidFill>
              </a:rPr>
              <a:t>firmware size: under 7% of the 512 KB flash</a:t>
            </a:r>
            <a:endParaRPr lang="en-US" sz="18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Clean, modular firmware</a:t>
            </a:r>
            <a:endParaRPr lang="en-US" sz="3600" dirty="0"/>
          </a:p>
        </p:txBody>
      </p:sp>
      <p:sp>
        <p:nvSpPr>
          <p:cNvPr id="3" name="Application layer"/>
          <p:cNvSpPr/>
          <p:nvPr/>
        </p:nvSpPr>
        <p:spPr>
          <a:xfrm>
            <a:off x="548640" y="1600200"/>
            <a:ext cx="5760720" cy="914400"/>
          </a:xfrm>
          <a:prstGeom prst="roundRect">
            <a:avLst>
              <a:gd name="adj" fmla="val 12000"/>
            </a:avLst>
          </a:prstGeom>
          <a:solidFill>
            <a:schemeClr val="tx1"/>
          </a:solidFill>
          <a:ln/>
        </p:spPr>
      </p:sp>
      <p:sp>
        <p:nvSpPr>
          <p:cNvPr id="4" name="Text 2"/>
          <p:cNvSpPr txBox="1"/>
          <p:nvPr/>
        </p:nvSpPr>
        <p:spPr>
          <a:xfrm>
            <a:off x="822960" y="1728216"/>
            <a:ext cx="5212080" cy="329184"/>
          </a:xfrm>
          <a:prstGeom prst="rect">
            <a:avLst/>
          </a:prstGeom>
          <a:noFill/>
          <a:ln/>
        </p:spPr>
        <p:txBody>
          <a:bodyPr wrap="square" lIns="0" tIns="0" rIns="0" bIns="0" rtlCol="0" anchor="t"/>
          <a:lstStyle/>
          <a:p>
            <a:pPr indent="0" marL="0">
              <a:buNone/>
            </a:pPr>
            <a:r>
              <a:rPr lang="en-US" sz="1800" b="1" dirty="0">
                <a:solidFill>
                  <a:schemeClr val="bg1"/>
                </a:solidFill>
                <a:latin typeface="+mj-lt" pitchFamily="34" charset="0"/>
                <a:ea typeface="+mj-lt" pitchFamily="34" charset="-122"/>
                <a:cs typeface="+mj-lt" pitchFamily="34" charset="-120"/>
              </a:rPr>
              <a:t>Application</a:t>
            </a:r>
            <a:endParaRPr lang="en-US" sz="1800" dirty="0"/>
          </a:p>
        </p:txBody>
      </p:sp>
      <p:sp>
        <p:nvSpPr>
          <p:cNvPr id="5" name="Text 3"/>
          <p:cNvSpPr txBox="1"/>
          <p:nvPr/>
        </p:nvSpPr>
        <p:spPr>
          <a:xfrm>
            <a:off x="822960" y="2075688"/>
            <a:ext cx="5212080" cy="310896"/>
          </a:xfrm>
          <a:prstGeom prst="rect">
            <a:avLst/>
          </a:prstGeom>
          <a:noFill/>
          <a:ln/>
        </p:spPr>
        <p:txBody>
          <a:bodyPr wrap="square" lIns="0" tIns="0" rIns="0" bIns="0" rtlCol="0" anchor="t"/>
          <a:lstStyle/>
          <a:p>
            <a:pPr indent="0" marL="0">
              <a:buNone/>
            </a:pPr>
            <a:r>
              <a:rPr lang="en-US" sz="1400" dirty="0">
                <a:solidFill>
                  <a:schemeClr val="accent3"/>
                </a:solidFill>
              </a:rPr>
              <a:t>main.c: read sensor, then update screen, alarm and log</a:t>
            </a:r>
            <a:endParaRPr lang="en-US" sz="1400" dirty="0"/>
          </a:p>
        </p:txBody>
      </p:sp>
      <p:sp>
        <p:nvSpPr>
          <p:cNvPr id="6" name="Drivers layer"/>
          <p:cNvSpPr/>
          <p:nvPr/>
        </p:nvSpPr>
        <p:spPr>
          <a:xfrm>
            <a:off x="548640" y="2679192"/>
            <a:ext cx="5760720" cy="914400"/>
          </a:xfrm>
          <a:prstGeom prst="roundRect">
            <a:avLst>
              <a:gd name="adj" fmla="val 12000"/>
            </a:avLst>
          </a:prstGeom>
          <a:solidFill>
            <a:schemeClr val="accent1"/>
          </a:solidFill>
          <a:ln/>
        </p:spPr>
      </p:sp>
      <p:sp>
        <p:nvSpPr>
          <p:cNvPr id="7" name="Text 5"/>
          <p:cNvSpPr txBox="1"/>
          <p:nvPr/>
        </p:nvSpPr>
        <p:spPr>
          <a:xfrm>
            <a:off x="822960" y="2807208"/>
            <a:ext cx="5212080" cy="329184"/>
          </a:xfrm>
          <a:prstGeom prst="rect">
            <a:avLst/>
          </a:prstGeom>
          <a:noFill/>
          <a:ln/>
        </p:spPr>
        <p:txBody>
          <a:bodyPr wrap="square" lIns="0" tIns="0" rIns="0" bIns="0" rtlCol="0" anchor="t"/>
          <a:lstStyle/>
          <a:p>
            <a:pPr indent="0" marL="0">
              <a:buNone/>
            </a:pPr>
            <a:r>
              <a:rPr lang="en-US" sz="1800" b="1" dirty="0">
                <a:solidFill>
                  <a:schemeClr val="bg1"/>
                </a:solidFill>
                <a:latin typeface="+mj-lt" pitchFamily="34" charset="0"/>
                <a:ea typeface="+mj-lt" pitchFamily="34" charset="-122"/>
                <a:cs typeface="+mj-lt" pitchFamily="34" charset="-120"/>
              </a:rPr>
              <a:t>Drivers</a:t>
            </a:r>
            <a:endParaRPr lang="en-US" sz="1800" dirty="0"/>
          </a:p>
        </p:txBody>
      </p:sp>
      <p:sp>
        <p:nvSpPr>
          <p:cNvPr id="8" name="Text 6"/>
          <p:cNvSpPr txBox="1"/>
          <p:nvPr/>
        </p:nvSpPr>
        <p:spPr>
          <a:xfrm>
            <a:off x="822960" y="3154680"/>
            <a:ext cx="5212080" cy="310896"/>
          </a:xfrm>
          <a:prstGeom prst="rect">
            <a:avLst/>
          </a:prstGeom>
          <a:noFill/>
          <a:ln/>
        </p:spPr>
        <p:txBody>
          <a:bodyPr wrap="square" lIns="0" tIns="0" rIns="0" bIns="0" rtlCol="0" anchor="t"/>
          <a:lstStyle/>
          <a:p>
            <a:pPr indent="0" marL="0">
              <a:buNone/>
            </a:pPr>
            <a:r>
              <a:rPr lang="en-US" sz="1400" dirty="0">
                <a:solidFill>
                  <a:schemeClr val="bg1"/>
                </a:solidFill>
              </a:rPr>
              <a:t>MQ2  ·  I2C_LCD  ·  BUZZER</a:t>
            </a:r>
            <a:endParaRPr lang="en-US" sz="1400" dirty="0"/>
          </a:p>
        </p:txBody>
      </p:sp>
      <p:sp>
        <p:nvSpPr>
          <p:cNvPr id="9" name="STM32 HAL layer"/>
          <p:cNvSpPr/>
          <p:nvPr/>
        </p:nvSpPr>
        <p:spPr>
          <a:xfrm>
            <a:off x="548640" y="3758184"/>
            <a:ext cx="5760720" cy="914400"/>
          </a:xfrm>
          <a:prstGeom prst="roundRect">
            <a:avLst>
              <a:gd name="adj" fmla="val 12000"/>
            </a:avLst>
          </a:prstGeom>
          <a:solidFill>
            <a:schemeClr val="tx2"/>
          </a:solidFill>
          <a:ln/>
        </p:spPr>
      </p:sp>
      <p:sp>
        <p:nvSpPr>
          <p:cNvPr id="10" name="Text 8"/>
          <p:cNvSpPr txBox="1"/>
          <p:nvPr/>
        </p:nvSpPr>
        <p:spPr>
          <a:xfrm>
            <a:off x="822960" y="3886200"/>
            <a:ext cx="5212080" cy="329184"/>
          </a:xfrm>
          <a:prstGeom prst="rect">
            <a:avLst/>
          </a:prstGeom>
          <a:noFill/>
          <a:ln/>
        </p:spPr>
        <p:txBody>
          <a:bodyPr wrap="square" lIns="0" tIns="0" rIns="0" bIns="0" rtlCol="0" anchor="t"/>
          <a:lstStyle/>
          <a:p>
            <a:pPr indent="0" marL="0">
              <a:buNone/>
            </a:pPr>
            <a:r>
              <a:rPr lang="en-US" sz="1800" b="1" dirty="0">
                <a:solidFill>
                  <a:schemeClr val="bg1"/>
                </a:solidFill>
                <a:latin typeface="+mj-lt" pitchFamily="34" charset="0"/>
                <a:ea typeface="+mj-lt" pitchFamily="34" charset="-122"/>
                <a:cs typeface="+mj-lt" pitchFamily="34" charset="-120"/>
              </a:rPr>
              <a:t>STM32 HAL</a:t>
            </a:r>
            <a:endParaRPr lang="en-US" sz="1800" dirty="0"/>
          </a:p>
        </p:txBody>
      </p:sp>
      <p:sp>
        <p:nvSpPr>
          <p:cNvPr id="11" name="Text 9"/>
          <p:cNvSpPr txBox="1"/>
          <p:nvPr/>
        </p:nvSpPr>
        <p:spPr>
          <a:xfrm>
            <a:off x="822960" y="4233672"/>
            <a:ext cx="5212080" cy="310896"/>
          </a:xfrm>
          <a:prstGeom prst="rect">
            <a:avLst/>
          </a:prstGeom>
          <a:noFill/>
          <a:ln/>
        </p:spPr>
        <p:txBody>
          <a:bodyPr wrap="square" lIns="0" tIns="0" rIns="0" bIns="0" rtlCol="0" anchor="t"/>
          <a:lstStyle/>
          <a:p>
            <a:pPr indent="0" marL="0">
              <a:buNone/>
            </a:pPr>
            <a:r>
              <a:rPr lang="en-US" sz="1400" dirty="0">
                <a:solidFill>
                  <a:schemeClr val="accent3"/>
                </a:solidFill>
              </a:rPr>
              <a:t>ADC  ·  I2C  ·  TIM (PWM)  ·  UART</a:t>
            </a:r>
            <a:endParaRPr lang="en-US" sz="1400" dirty="0"/>
          </a:p>
        </p:txBody>
      </p:sp>
      <p:sp>
        <p:nvSpPr>
          <p:cNvPr id="12" name="Hardware layer"/>
          <p:cNvSpPr/>
          <p:nvPr/>
        </p:nvSpPr>
        <p:spPr>
          <a:xfrm>
            <a:off x="548640" y="4837176"/>
            <a:ext cx="5760720" cy="914400"/>
          </a:xfrm>
          <a:prstGeom prst="roundRect">
            <a:avLst>
              <a:gd name="adj" fmla="val 12000"/>
            </a:avLst>
          </a:prstGeom>
          <a:solidFill>
            <a:schemeClr val="bg2"/>
          </a:solidFill>
          <a:ln/>
        </p:spPr>
      </p:sp>
      <p:sp>
        <p:nvSpPr>
          <p:cNvPr id="13" name="Text 11"/>
          <p:cNvSpPr txBox="1"/>
          <p:nvPr/>
        </p:nvSpPr>
        <p:spPr>
          <a:xfrm>
            <a:off x="822960" y="4965192"/>
            <a:ext cx="5212080" cy="329184"/>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Hardware</a:t>
            </a:r>
            <a:endParaRPr lang="en-US" sz="1800" dirty="0"/>
          </a:p>
        </p:txBody>
      </p:sp>
      <p:sp>
        <p:nvSpPr>
          <p:cNvPr id="14" name="Text 12"/>
          <p:cNvSpPr txBox="1"/>
          <p:nvPr/>
        </p:nvSpPr>
        <p:spPr>
          <a:xfrm>
            <a:off x="822960" y="5312664"/>
            <a:ext cx="5212080" cy="310896"/>
          </a:xfrm>
          <a:prstGeom prst="rect">
            <a:avLst/>
          </a:prstGeom>
          <a:noFill/>
          <a:ln/>
        </p:spPr>
        <p:txBody>
          <a:bodyPr wrap="square" lIns="0" tIns="0" rIns="0" bIns="0" rtlCol="0" anchor="t"/>
          <a:lstStyle/>
          <a:p>
            <a:pPr indent="0" marL="0">
              <a:buNone/>
            </a:pPr>
            <a:r>
              <a:rPr lang="en-US" sz="1400" dirty="0">
                <a:solidFill>
                  <a:schemeClr val="accent6"/>
                </a:solidFill>
              </a:rPr>
              <a:t>Nucleo-G491RE + sensor, screen, buzzer</a:t>
            </a:r>
            <a:endParaRPr lang="en-US" sz="1400" dirty="0"/>
          </a:p>
        </p:txBody>
      </p:sp>
      <p:sp>
        <p:nvSpPr>
          <p:cNvPr id="15" name="Icon tile FaPuzzlePiece"/>
          <p:cNvSpPr/>
          <p:nvPr/>
        </p:nvSpPr>
        <p:spPr>
          <a:xfrm>
            <a:off x="6812280" y="1600200"/>
            <a:ext cx="685800" cy="685800"/>
          </a:xfrm>
          <a:prstGeom prst="roundRect">
            <a:avLst>
              <a:gd name="adj" fmla="val 22000"/>
            </a:avLst>
          </a:prstGeom>
          <a:solidFill>
            <a:schemeClr val="tx1"/>
          </a:solidFill>
          <a:ln/>
        </p:spPr>
      </p:sp>
      <p:pic>
        <p:nvPicPr>
          <p:cNvPr id="16" name="Image 0" descr="FaPuzzlePiece">    </p:cNvPr>
          <p:cNvPicPr>
            <a:picLocks noChangeAspect="1"/>
          </p:cNvPicPr>
          <p:nvPr/>
        </p:nvPicPr>
        <p:blipFill>
          <a:blip r:embed="rId1"/>
          <a:stretch>
            <a:fillRect/>
          </a:stretch>
        </p:blipFill>
        <p:spPr>
          <a:xfrm>
            <a:off x="6976872" y="1764792"/>
            <a:ext cx="356616" cy="356616"/>
          </a:xfrm>
          <a:prstGeom prst="rect">
            <a:avLst/>
          </a:prstGeom>
        </p:spPr>
      </p:pic>
      <p:sp>
        <p:nvSpPr>
          <p:cNvPr id="17" name="Text 14"/>
          <p:cNvSpPr txBox="1"/>
          <p:nvPr/>
        </p:nvSpPr>
        <p:spPr>
          <a:xfrm>
            <a:off x="7726680" y="1572768"/>
            <a:ext cx="3916375" cy="347472"/>
          </a:xfrm>
          <a:prstGeom prst="rect">
            <a:avLst/>
          </a:prstGeom>
          <a:noFill/>
          <a:ln/>
        </p:spPr>
        <p:txBody>
          <a:bodyPr wrap="square" lIns="0" tIns="0" rIns="0" bIns="0" rtlCol="0" anchor="t"/>
          <a:lstStyle/>
          <a:p>
            <a:pPr indent="0" marL="0">
              <a:buNone/>
            </a:pPr>
            <a:r>
              <a:rPr lang="en-US" sz="1900" b="1" dirty="0">
                <a:solidFill>
                  <a:schemeClr val="tx1"/>
                </a:solidFill>
                <a:latin typeface="+mj-lt" pitchFamily="34" charset="0"/>
                <a:ea typeface="+mj-lt" pitchFamily="34" charset="-122"/>
                <a:cs typeface="+mj-lt" pitchFamily="34" charset="-120"/>
              </a:rPr>
              <a:t>Swap a part, keep the rest</a:t>
            </a:r>
            <a:endParaRPr lang="en-US" sz="1900" dirty="0"/>
          </a:p>
        </p:txBody>
      </p:sp>
      <p:sp>
        <p:nvSpPr>
          <p:cNvPr id="18" name="Text 15"/>
          <p:cNvSpPr txBox="1"/>
          <p:nvPr/>
        </p:nvSpPr>
        <p:spPr>
          <a:xfrm>
            <a:off x="7726680" y="1947672"/>
            <a:ext cx="3916375" cy="868680"/>
          </a:xfrm>
          <a:prstGeom prst="rect">
            <a:avLst/>
          </a:prstGeom>
          <a:noFill/>
          <a:ln/>
        </p:spPr>
        <p:txBody>
          <a:bodyPr wrap="square" lIns="0" tIns="0" rIns="0" bIns="0" rtlCol="0" anchor="t"/>
          <a:lstStyle/>
          <a:p>
            <a:pPr indent="0" marL="0">
              <a:buNone/>
            </a:pPr>
            <a:r>
              <a:rPr lang="en-US" sz="1500" dirty="0">
                <a:solidFill>
                  <a:schemeClr val="accent6"/>
                </a:solidFill>
              </a:rPr>
              <a:t>Sensor, screen and buzzer each have their own driver. Replacing one doesn't touch the others.</a:t>
            </a:r>
            <a:endParaRPr lang="en-US" sz="1500" dirty="0"/>
          </a:p>
        </p:txBody>
      </p:sp>
      <p:sp>
        <p:nvSpPr>
          <p:cNvPr id="19" name="Icon tile FaSliders"/>
          <p:cNvSpPr/>
          <p:nvPr/>
        </p:nvSpPr>
        <p:spPr>
          <a:xfrm>
            <a:off x="6812280" y="3063240"/>
            <a:ext cx="685800" cy="685800"/>
          </a:xfrm>
          <a:prstGeom prst="roundRect">
            <a:avLst>
              <a:gd name="adj" fmla="val 22000"/>
            </a:avLst>
          </a:prstGeom>
          <a:solidFill>
            <a:schemeClr val="tx1"/>
          </a:solidFill>
          <a:ln/>
        </p:spPr>
      </p:sp>
      <p:pic>
        <p:nvPicPr>
          <p:cNvPr id="20" name="Image 1" descr="FaSliders">    </p:cNvPr>
          <p:cNvPicPr>
            <a:picLocks noChangeAspect="1"/>
          </p:cNvPicPr>
          <p:nvPr/>
        </p:nvPicPr>
        <p:blipFill>
          <a:blip r:embed="rId2"/>
          <a:stretch>
            <a:fillRect/>
          </a:stretch>
        </p:blipFill>
        <p:spPr>
          <a:xfrm>
            <a:off x="6976872" y="3227832"/>
            <a:ext cx="356616" cy="356616"/>
          </a:xfrm>
          <a:prstGeom prst="rect">
            <a:avLst/>
          </a:prstGeom>
        </p:spPr>
      </p:pic>
      <p:sp>
        <p:nvSpPr>
          <p:cNvPr id="21" name="Text 17"/>
          <p:cNvSpPr txBox="1"/>
          <p:nvPr/>
        </p:nvSpPr>
        <p:spPr>
          <a:xfrm>
            <a:off x="7726680" y="3035808"/>
            <a:ext cx="3916375" cy="347472"/>
          </a:xfrm>
          <a:prstGeom prst="rect">
            <a:avLst/>
          </a:prstGeom>
          <a:noFill/>
          <a:ln/>
        </p:spPr>
        <p:txBody>
          <a:bodyPr wrap="square" lIns="0" tIns="0" rIns="0" bIns="0" rtlCol="0" anchor="t"/>
          <a:lstStyle/>
          <a:p>
            <a:pPr indent="0" marL="0">
              <a:buNone/>
            </a:pPr>
            <a:r>
              <a:rPr lang="en-US" sz="1900" b="1" dirty="0">
                <a:solidFill>
                  <a:schemeClr val="tx1"/>
                </a:solidFill>
                <a:latin typeface="+mj-lt" pitchFamily="34" charset="0"/>
                <a:ea typeface="+mj-lt" pitchFamily="34" charset="-122"/>
                <a:cs typeface="+mj-lt" pitchFamily="34" charset="-120"/>
              </a:rPr>
              <a:t>Tune it in one file</a:t>
            </a:r>
            <a:endParaRPr lang="en-US" sz="1900" dirty="0"/>
          </a:p>
        </p:txBody>
      </p:sp>
      <p:sp>
        <p:nvSpPr>
          <p:cNvPr id="22" name="Text 18"/>
          <p:cNvSpPr txBox="1"/>
          <p:nvPr/>
        </p:nvSpPr>
        <p:spPr>
          <a:xfrm>
            <a:off x="7726680" y="3410712"/>
            <a:ext cx="3916375" cy="868680"/>
          </a:xfrm>
          <a:prstGeom prst="rect">
            <a:avLst/>
          </a:prstGeom>
          <a:noFill/>
          <a:ln/>
        </p:spPr>
        <p:txBody>
          <a:bodyPr wrap="square" lIns="0" tIns="0" rIns="0" bIns="0" rtlCol="0" anchor="t"/>
          <a:lstStyle/>
          <a:p>
            <a:pPr indent="0" marL="0">
              <a:buNone/>
            </a:pPr>
            <a:r>
              <a:rPr lang="en-US" sz="1500" dirty="0">
                <a:solidFill>
                  <a:schemeClr val="accent6"/>
                </a:solidFill>
              </a:rPr>
              <a:t>Alarm levels, warm-up time and the divider values all live in MQ2.h.</a:t>
            </a:r>
            <a:endParaRPr lang="en-US" sz="1500" dirty="0"/>
          </a:p>
        </p:txBody>
      </p:sp>
      <p:sp>
        <p:nvSpPr>
          <p:cNvPr id="23" name="Icon tile FaCircleCheck"/>
          <p:cNvSpPr/>
          <p:nvPr/>
        </p:nvSpPr>
        <p:spPr>
          <a:xfrm>
            <a:off x="6812280" y="4526280"/>
            <a:ext cx="685800" cy="685800"/>
          </a:xfrm>
          <a:prstGeom prst="roundRect">
            <a:avLst>
              <a:gd name="adj" fmla="val 22000"/>
            </a:avLst>
          </a:prstGeom>
          <a:solidFill>
            <a:schemeClr val="tx1"/>
          </a:solidFill>
          <a:ln/>
        </p:spPr>
      </p:sp>
      <p:pic>
        <p:nvPicPr>
          <p:cNvPr id="24" name="Image 2" descr="FaCircleCheck">    </p:cNvPr>
          <p:cNvPicPr>
            <a:picLocks noChangeAspect="1"/>
          </p:cNvPicPr>
          <p:nvPr/>
        </p:nvPicPr>
        <p:blipFill>
          <a:blip r:embed="rId3"/>
          <a:stretch>
            <a:fillRect/>
          </a:stretch>
        </p:blipFill>
        <p:spPr>
          <a:xfrm>
            <a:off x="6976872" y="4690872"/>
            <a:ext cx="356616" cy="356616"/>
          </a:xfrm>
          <a:prstGeom prst="rect">
            <a:avLst/>
          </a:prstGeom>
        </p:spPr>
      </p:pic>
      <p:sp>
        <p:nvSpPr>
          <p:cNvPr id="25" name="Text 20"/>
          <p:cNvSpPr txBox="1"/>
          <p:nvPr/>
        </p:nvSpPr>
        <p:spPr>
          <a:xfrm>
            <a:off x="7726680" y="4498848"/>
            <a:ext cx="3916375" cy="347472"/>
          </a:xfrm>
          <a:prstGeom prst="rect">
            <a:avLst/>
          </a:prstGeom>
          <a:noFill/>
          <a:ln/>
        </p:spPr>
        <p:txBody>
          <a:bodyPr wrap="square" lIns="0" tIns="0" rIns="0" bIns="0" rtlCol="0" anchor="t"/>
          <a:lstStyle/>
          <a:p>
            <a:pPr indent="0" marL="0">
              <a:buNone/>
            </a:pPr>
            <a:r>
              <a:rPr lang="en-US" sz="1900" b="1" dirty="0">
                <a:solidFill>
                  <a:schemeClr val="tx1"/>
                </a:solidFill>
                <a:latin typeface="+mj-lt" pitchFamily="34" charset="0"/>
                <a:ea typeface="+mj-lt" pitchFamily="34" charset="-122"/>
                <a:cs typeface="+mj-lt" pitchFamily="34" charset="-120"/>
              </a:rPr>
              <a:t>Builds with zero warnings</a:t>
            </a:r>
            <a:endParaRPr lang="en-US" sz="1900" dirty="0"/>
          </a:p>
        </p:txBody>
      </p:sp>
      <p:sp>
        <p:nvSpPr>
          <p:cNvPr id="26" name="Text 21"/>
          <p:cNvSpPr txBox="1"/>
          <p:nvPr/>
        </p:nvSpPr>
        <p:spPr>
          <a:xfrm>
            <a:off x="7726680" y="4873752"/>
            <a:ext cx="3916375" cy="868680"/>
          </a:xfrm>
          <a:prstGeom prst="rect">
            <a:avLst/>
          </a:prstGeom>
          <a:noFill/>
          <a:ln/>
        </p:spPr>
        <p:txBody>
          <a:bodyPr wrap="square" lIns="0" tIns="0" rIns="0" bIns="0" rtlCol="0" anchor="t"/>
          <a:lstStyle/>
          <a:p>
            <a:pPr indent="0" marL="0">
              <a:buNone/>
            </a:pPr>
            <a:r>
              <a:rPr lang="en-US" sz="1500" dirty="0">
                <a:solidFill>
                  <a:schemeClr val="accent6"/>
                </a:solidFill>
              </a:rPr>
              <a:t>Standard STM32CubeIDE project on ST's HAL library.</a:t>
            </a:r>
            <a:endParaRPr lang="en-US" sz="15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Parts and wiring</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3108960"/>
                <a:gridCol w="3749040"/>
                <a:gridCol w="4236415"/>
              </a:tblGrid>
              <a:tr h="566928">
                <a:tc>
                  <a:txBody>
                    <a:bodyPr/>
                    <a:lstStyle/>
                    <a:p>
                      <a:pPr indent="0" marL="0">
                        <a:buNone/>
                      </a:pPr>
                      <a:r>
                        <a:rPr lang="en-US" sz="1500" b="1" dirty="0">
                          <a:solidFill>
                            <a:schemeClr val="bg1"/>
                          </a:solidFill>
                          <a:latin typeface="+mj-lt" pitchFamily="34" charset="0"/>
                          <a:ea typeface="+mj-lt" pitchFamily="34" charset="-122"/>
                          <a:cs typeface="+mj-lt" pitchFamily="34" charset="-120"/>
                        </a:rPr>
                        <a:t>Part</a:t>
                      </a:r>
                      <a:endParaRPr lang="en-US" sz="1500" dirty="0">
                        <a:latin typeface="+mj-lt" charset="0"/>
                        <a:ea typeface="+mj-lt" charset="0"/>
                        <a:cs typeface="+mj-lt" charset="0"/>
                      </a:endParaRPr>
                    </a:p>
                  </a:txBody>
                  <a:tcPr marL="137160" marR="137160" marT="0" marB="0" anchor="ctr">
                    <a:lnL w="9525" cap="flat" cmpd="sng" algn="ctr">
                      <a:solidFill>
                        <a:srgbClr val="EEF0F3"/>
                      </a:solidFill>
                      <a:prstDash val="solid"/>
                      <a:round/>
                      <a:headEnd type="none" w="med" len="med"/>
                      <a:tailEnd type="none" w="med" len="med"/>
                    </a:lnL>
                    <a:lnR w="9525" cap="flat" cmpd="sng" algn="ctr">
                      <a:solidFill>
                        <a:srgbClr val="EEF0F3"/>
                      </a:solidFill>
                      <a:prstDash val="solid"/>
                      <a:round/>
                      <a:headEnd type="none" w="med" len="med"/>
                      <a:tailEnd type="none" w="med" len="med"/>
                    </a:lnR>
                    <a:lnT w="9525" cap="flat" cmpd="sng" algn="ctr">
                      <a:solidFill>
                        <a:srgbClr val="EEF0F3"/>
                      </a:solidFill>
                      <a:prstDash val="solid"/>
                      <a:round/>
                      <a:headEnd type="none" w="med" len="med"/>
                      <a:tailEnd type="none" w="med" len="med"/>
                    </a:lnT>
                    <a:lnB w="9525" cap="flat" cmpd="sng" algn="ctr">
                      <a:solidFill>
                        <a:srgbClr val="EEF0F3"/>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latin typeface="+mj-lt" pitchFamily="34" charset="0"/>
                          <a:ea typeface="+mj-lt" pitchFamily="34" charset="-122"/>
                          <a:cs typeface="+mj-lt" pitchFamily="34" charset="-120"/>
                        </a:rPr>
                        <a:t>Connects to</a:t>
                      </a:r>
                      <a:endParaRPr lang="en-US" sz="1500" dirty="0">
                        <a:latin typeface="+mj-lt" charset="0"/>
                        <a:ea typeface="+mj-lt" charset="0"/>
                        <a:cs typeface="+mj-lt" charset="0"/>
                      </a:endParaRPr>
                    </a:p>
                  </a:txBody>
                  <a:tcPr marL="137160" marR="137160" marT="0" marB="0" anchor="ctr">
                    <a:lnL w="9525" cap="flat" cmpd="sng" algn="ctr">
                      <a:solidFill>
                        <a:srgbClr val="EEF0F3"/>
                      </a:solidFill>
                      <a:prstDash val="solid"/>
                      <a:round/>
                      <a:headEnd type="none" w="med" len="med"/>
                      <a:tailEnd type="none" w="med" len="med"/>
                    </a:lnL>
                    <a:lnR w="9525" cap="flat" cmpd="sng" algn="ctr">
                      <a:solidFill>
                        <a:srgbClr val="EEF0F3"/>
                      </a:solidFill>
                      <a:prstDash val="solid"/>
                      <a:round/>
                      <a:headEnd type="none" w="med" len="med"/>
                      <a:tailEnd type="none" w="med" len="med"/>
                    </a:lnR>
                    <a:lnT w="9525" cap="flat" cmpd="sng" algn="ctr">
                      <a:solidFill>
                        <a:srgbClr val="EEF0F3"/>
                      </a:solidFill>
                      <a:prstDash val="solid"/>
                      <a:round/>
                      <a:headEnd type="none" w="med" len="med"/>
                      <a:tailEnd type="none" w="med" len="med"/>
                    </a:lnT>
                    <a:lnB w="9525" cap="flat" cmpd="sng" algn="ctr">
                      <a:solidFill>
                        <a:srgbClr val="EEF0F3"/>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latin typeface="+mj-lt" pitchFamily="34" charset="0"/>
                          <a:ea typeface="+mj-lt" pitchFamily="34" charset="-122"/>
                          <a:cs typeface="+mj-lt" pitchFamily="34" charset="-120"/>
                        </a:rPr>
                        <a:t>Notes</a:t>
                      </a:r>
                      <a:endParaRPr lang="en-US" sz="1500" dirty="0">
                        <a:latin typeface="+mj-lt" charset="0"/>
                        <a:ea typeface="+mj-lt" charset="0"/>
                        <a:cs typeface="+mj-lt" charset="0"/>
                      </a:endParaRPr>
                    </a:p>
                  </a:txBody>
                  <a:tcPr marL="137160" marR="137160" marT="0" marB="0" anchor="ctr">
                    <a:lnL w="9525" cap="flat" cmpd="sng" algn="ctr">
                      <a:solidFill>
                        <a:srgbClr val="EEF0F3"/>
                      </a:solidFill>
                      <a:prstDash val="solid"/>
                      <a:round/>
                      <a:headEnd type="none" w="med" len="med"/>
                      <a:tailEnd type="none" w="med" len="med"/>
                    </a:lnL>
                    <a:lnR w="9525" cap="flat" cmpd="sng" algn="ctr">
                      <a:solidFill>
                        <a:srgbClr val="EEF0F3"/>
                      </a:solidFill>
                      <a:prstDash val="solid"/>
                      <a:round/>
                      <a:headEnd type="none" w="med" len="med"/>
                      <a:tailEnd type="none" w="med" len="med"/>
                    </a:lnR>
                    <a:lnT w="9525" cap="flat" cmpd="sng" algn="ctr">
                      <a:solidFill>
                        <a:srgbClr val="EEF0F3"/>
                      </a:solidFill>
                      <a:prstDash val="solid"/>
                      <a:round/>
                      <a:headEnd type="none" w="med" len="med"/>
                      <a:tailEnd type="none" w="med" len="med"/>
                    </a:lnT>
                    <a:lnB w="9525" cap="flat" cmpd="sng" algn="ctr">
                      <a:solidFill>
                        <a:srgbClr val="EEF0F3"/>
                      </a:solidFill>
                      <a:prstDash val="solid"/>
                      <a:round/>
                      <a:headEnd type="none" w="med" len="med"/>
                      <a:tailEnd type="none" w="med" len="med"/>
                    </a:lnB>
                    <a:solidFill>
                      <a:schemeClr val="tx1"/>
                    </a:solidFill>
                  </a:tcPr>
                </a:tc>
              </a:tr>
              <a:tr h="566928">
                <a:tc>
                  <a:txBody>
                    <a:bodyPr/>
                    <a:lstStyle/>
                    <a:p>
                      <a:pPr indent="0" marL="0">
                        <a:buNone/>
                      </a:pPr>
                      <a:r>
                        <a:rPr lang="en-US" sz="1500" dirty="0">
                          <a:solidFill>
                            <a:schemeClr val="tx1"/>
                          </a:solidFill>
                        </a:rPr>
                        <a:t>STM32 Nucleo-G491RE</a:t>
                      </a:r>
                      <a:endParaRPr lang="en-US" sz="1500" dirty="0"/>
                    </a:p>
                  </a:txBody>
                  <a:tcPr marL="137160" marR="137160" marT="0" marB="0" anchor="ctr">
                    <a:lnL w="9525" cap="flat" cmpd="sng" algn="ctr">
                      <a:solidFill>
                        <a:srgbClr val="EEF0F3"/>
                      </a:solidFill>
                      <a:prstDash val="solid"/>
                      <a:round/>
                      <a:headEnd type="none" w="med" len="med"/>
                      <a:tailEnd type="none" w="med" len="med"/>
                    </a:lnL>
                    <a:lnR w="9525" cap="flat" cmpd="sng" algn="ctr">
                      <a:solidFill>
                        <a:srgbClr val="EEF0F3"/>
                      </a:solidFill>
                      <a:prstDash val="solid"/>
                      <a:round/>
                      <a:headEnd type="none" w="med" len="med"/>
                      <a:tailEnd type="none" w="med" len="med"/>
                    </a:lnR>
                    <a:lnT w="9525" cap="flat" cmpd="sng" algn="ctr">
                      <a:solidFill>
                        <a:srgbClr val="EEF0F3"/>
                      </a:solidFill>
                      <a:prstDash val="solid"/>
                      <a:round/>
                      <a:headEnd type="none" w="med" len="med"/>
                      <a:tailEnd type="none" w="med" len="med"/>
                    </a:lnT>
                    <a:lnB w="9525" cap="flat" cmpd="sng" algn="ctr">
                      <a:solidFill>
                        <a:srgbClr val="EEF0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USB to a laptop</a:t>
                      </a:r>
                      <a:endParaRPr lang="en-US" sz="1500" dirty="0"/>
                    </a:p>
                  </a:txBody>
                  <a:tcPr marL="137160" marR="137160" marT="0" marB="0" anchor="ctr">
                    <a:lnL w="9525" cap="flat" cmpd="sng" algn="ctr">
                      <a:solidFill>
                        <a:srgbClr val="EEF0F3"/>
                      </a:solidFill>
                      <a:prstDash val="solid"/>
                      <a:round/>
                      <a:headEnd type="none" w="med" len="med"/>
                      <a:tailEnd type="none" w="med" len="med"/>
                    </a:lnL>
                    <a:lnR w="9525" cap="flat" cmpd="sng" algn="ctr">
                      <a:solidFill>
                        <a:srgbClr val="EEF0F3"/>
                      </a:solidFill>
                      <a:prstDash val="solid"/>
                      <a:round/>
                      <a:headEnd type="none" w="med" len="med"/>
                      <a:tailEnd type="none" w="med" len="med"/>
                    </a:lnR>
                    <a:lnT w="9525" cap="flat" cmpd="sng" algn="ctr">
                      <a:solidFill>
                        <a:srgbClr val="EEF0F3"/>
                      </a:solidFill>
                      <a:prstDash val="solid"/>
                      <a:round/>
                      <a:headEnd type="none" w="med" len="med"/>
                      <a:tailEnd type="none" w="med" len="med"/>
                    </a:lnT>
                    <a:lnB w="9525" cap="flat" cmpd="sng" algn="ctr">
                      <a:solidFill>
                        <a:srgbClr val="EEF0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The brain. USB powers it and carries the log.</a:t>
                      </a:r>
                      <a:endParaRPr lang="en-US" sz="1500" dirty="0"/>
                    </a:p>
                  </a:txBody>
                  <a:tcPr marL="137160" marR="137160" marT="0" marB="0" anchor="ctr">
                    <a:lnL w="9525" cap="flat" cmpd="sng" algn="ctr">
                      <a:solidFill>
                        <a:srgbClr val="EEF0F3"/>
                      </a:solidFill>
                      <a:prstDash val="solid"/>
                      <a:round/>
                      <a:headEnd type="none" w="med" len="med"/>
                      <a:tailEnd type="none" w="med" len="med"/>
                    </a:lnL>
                    <a:lnR w="9525" cap="flat" cmpd="sng" algn="ctr">
                      <a:solidFill>
                        <a:srgbClr val="EEF0F3"/>
                      </a:solidFill>
                      <a:prstDash val="solid"/>
                      <a:round/>
                      <a:headEnd type="none" w="med" len="med"/>
                      <a:tailEnd type="none" w="med" len="med"/>
                    </a:lnR>
                    <a:lnT w="9525" cap="flat" cmpd="sng" algn="ctr">
                      <a:solidFill>
                        <a:srgbClr val="EEF0F3"/>
                      </a:solidFill>
                      <a:prstDash val="solid"/>
                      <a:round/>
                      <a:headEnd type="none" w="med" len="med"/>
                      <a:tailEnd type="none" w="med" len="med"/>
                    </a:lnT>
                    <a:lnB w="9525" cap="flat" cmpd="sng" algn="ctr">
                      <a:solidFill>
                        <a:srgbClr val="EEF0F3"/>
                      </a:solidFill>
                      <a:prstDash val="solid"/>
                      <a:round/>
                      <a:headEnd type="none" w="med" len="med"/>
                      <a:tailEnd type="none" w="med" len="med"/>
                    </a:lnB>
                    <a:solidFill>
                      <a:schemeClr val="bg1"/>
                    </a:solidFill>
                  </a:tcPr>
                </a:tc>
              </a:tr>
              <a:tr h="566928">
                <a:tc>
                  <a:txBody>
                    <a:bodyPr/>
                    <a:lstStyle/>
                    <a:p>
                      <a:pPr indent="0" marL="0">
                        <a:buNone/>
                      </a:pPr>
                      <a:r>
                        <a:rPr lang="en-US" sz="1500" dirty="0">
                          <a:solidFill>
                            <a:schemeClr val="tx1"/>
                          </a:solidFill>
                        </a:rPr>
                        <a:t>MQ-2 gas sensor module</a:t>
                      </a:r>
                      <a:endParaRPr lang="en-US" sz="1500" dirty="0"/>
                    </a:p>
                  </a:txBody>
                  <a:tcPr marL="137160" marR="137160" marT="0" marB="0" anchor="ctr">
                    <a:lnL w="9525" cap="flat" cmpd="sng" algn="ctr">
                      <a:solidFill>
                        <a:srgbClr val="EEF0F3"/>
                      </a:solidFill>
                      <a:prstDash val="solid"/>
                      <a:round/>
                      <a:headEnd type="none" w="med" len="med"/>
                      <a:tailEnd type="none" w="med" len="med"/>
                    </a:lnL>
                    <a:lnR w="9525" cap="flat" cmpd="sng" algn="ctr">
                      <a:solidFill>
                        <a:srgbClr val="EEF0F3"/>
                      </a:solidFill>
                      <a:prstDash val="solid"/>
                      <a:round/>
                      <a:headEnd type="none" w="med" len="med"/>
                      <a:tailEnd type="none" w="med" len="med"/>
                    </a:lnR>
                    <a:lnT w="9525" cap="flat" cmpd="sng" algn="ctr">
                      <a:solidFill>
                        <a:srgbClr val="EEF0F3"/>
                      </a:solidFill>
                      <a:prstDash val="solid"/>
                      <a:round/>
                      <a:headEnd type="none" w="med" len="med"/>
                      <a:tailEnd type="none" w="med" len="med"/>
                    </a:lnT>
                    <a:lnB w="9525" cap="flat" cmpd="sng" algn="ctr">
                      <a:solidFill>
                        <a:srgbClr val="EEF0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AO → divider → A0 (PA0)</a:t>
                      </a:r>
                      <a:endParaRPr lang="en-US" sz="1500" dirty="0"/>
                    </a:p>
                  </a:txBody>
                  <a:tcPr marL="137160" marR="137160" marT="0" marB="0" anchor="ctr">
                    <a:lnL w="9525" cap="flat" cmpd="sng" algn="ctr">
                      <a:solidFill>
                        <a:srgbClr val="EEF0F3"/>
                      </a:solidFill>
                      <a:prstDash val="solid"/>
                      <a:round/>
                      <a:headEnd type="none" w="med" len="med"/>
                      <a:tailEnd type="none" w="med" len="med"/>
                    </a:lnL>
                    <a:lnR w="9525" cap="flat" cmpd="sng" algn="ctr">
                      <a:solidFill>
                        <a:srgbClr val="EEF0F3"/>
                      </a:solidFill>
                      <a:prstDash val="solid"/>
                      <a:round/>
                      <a:headEnd type="none" w="med" len="med"/>
                      <a:tailEnd type="none" w="med" len="med"/>
                    </a:lnR>
                    <a:lnT w="9525" cap="flat" cmpd="sng" algn="ctr">
                      <a:solidFill>
                        <a:srgbClr val="EEF0F3"/>
                      </a:solidFill>
                      <a:prstDash val="solid"/>
                      <a:round/>
                      <a:headEnd type="none" w="med" len="med"/>
                      <a:tailEnd type="none" w="med" len="med"/>
                    </a:lnT>
                    <a:lnB w="9525" cap="flat" cmpd="sng" algn="ctr">
                      <a:solidFill>
                        <a:srgbClr val="EEF0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Runs on 5 V for its heater.</a:t>
                      </a:r>
                      <a:endParaRPr lang="en-US" sz="1500" dirty="0"/>
                    </a:p>
                  </a:txBody>
                  <a:tcPr marL="137160" marR="137160" marT="0" marB="0" anchor="ctr">
                    <a:lnL w="9525" cap="flat" cmpd="sng" algn="ctr">
                      <a:solidFill>
                        <a:srgbClr val="EEF0F3"/>
                      </a:solidFill>
                      <a:prstDash val="solid"/>
                      <a:round/>
                      <a:headEnd type="none" w="med" len="med"/>
                      <a:tailEnd type="none" w="med" len="med"/>
                    </a:lnL>
                    <a:lnR w="9525" cap="flat" cmpd="sng" algn="ctr">
                      <a:solidFill>
                        <a:srgbClr val="EEF0F3"/>
                      </a:solidFill>
                      <a:prstDash val="solid"/>
                      <a:round/>
                      <a:headEnd type="none" w="med" len="med"/>
                      <a:tailEnd type="none" w="med" len="med"/>
                    </a:lnR>
                    <a:lnT w="9525" cap="flat" cmpd="sng" algn="ctr">
                      <a:solidFill>
                        <a:srgbClr val="EEF0F3"/>
                      </a:solidFill>
                      <a:prstDash val="solid"/>
                      <a:round/>
                      <a:headEnd type="none" w="med" len="med"/>
                      <a:tailEnd type="none" w="med" len="med"/>
                    </a:lnT>
                    <a:lnB w="9525" cap="flat" cmpd="sng" algn="ctr">
                      <a:solidFill>
                        <a:srgbClr val="EEF0F3"/>
                      </a:solidFill>
                      <a:prstDash val="solid"/>
                      <a:round/>
                      <a:headEnd type="none" w="med" len="med"/>
                      <a:tailEnd type="none" w="med" len="med"/>
                    </a:lnB>
                    <a:solidFill>
                      <a:schemeClr val="bg2"/>
                    </a:solidFill>
                  </a:tcPr>
                </a:tc>
              </a:tr>
              <a:tr h="566928">
                <a:tc>
                  <a:txBody>
                    <a:bodyPr/>
                    <a:lstStyle/>
                    <a:p>
                      <a:pPr indent="0" marL="0">
                        <a:buNone/>
                      </a:pPr>
                      <a:r>
                        <a:rPr lang="en-US" sz="1500" dirty="0">
                          <a:solidFill>
                            <a:schemeClr val="tx1"/>
                          </a:solidFill>
                        </a:rPr>
                        <a:t>10 kΩ + 20 kΩ resistors</a:t>
                      </a:r>
                      <a:endParaRPr lang="en-US" sz="1500" dirty="0"/>
                    </a:p>
                  </a:txBody>
                  <a:tcPr marL="137160" marR="137160" marT="0" marB="0" anchor="ctr">
                    <a:lnL w="9525" cap="flat" cmpd="sng" algn="ctr">
                      <a:solidFill>
                        <a:srgbClr val="EEF0F3"/>
                      </a:solidFill>
                      <a:prstDash val="solid"/>
                      <a:round/>
                      <a:headEnd type="none" w="med" len="med"/>
                      <a:tailEnd type="none" w="med" len="med"/>
                    </a:lnL>
                    <a:lnR w="9525" cap="flat" cmpd="sng" algn="ctr">
                      <a:solidFill>
                        <a:srgbClr val="EEF0F3"/>
                      </a:solidFill>
                      <a:prstDash val="solid"/>
                      <a:round/>
                      <a:headEnd type="none" w="med" len="med"/>
                      <a:tailEnd type="none" w="med" len="med"/>
                    </a:lnR>
                    <a:lnT w="9525" cap="flat" cmpd="sng" algn="ctr">
                      <a:solidFill>
                        <a:srgbClr val="EEF0F3"/>
                      </a:solidFill>
                      <a:prstDash val="solid"/>
                      <a:round/>
                      <a:headEnd type="none" w="med" len="med"/>
                      <a:tailEnd type="none" w="med" len="med"/>
                    </a:lnT>
                    <a:lnB w="9525" cap="flat" cmpd="sng" algn="ctr">
                      <a:solidFill>
                        <a:srgbClr val="EEF0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AO → 10 k → A0 → 20 k → GND</a:t>
                      </a:r>
                      <a:endParaRPr lang="en-US" sz="1500" dirty="0"/>
                    </a:p>
                  </a:txBody>
                  <a:tcPr marL="137160" marR="137160" marT="0" marB="0" anchor="ctr">
                    <a:lnL w="9525" cap="flat" cmpd="sng" algn="ctr">
                      <a:solidFill>
                        <a:srgbClr val="EEF0F3"/>
                      </a:solidFill>
                      <a:prstDash val="solid"/>
                      <a:round/>
                      <a:headEnd type="none" w="med" len="med"/>
                      <a:tailEnd type="none" w="med" len="med"/>
                    </a:lnL>
                    <a:lnR w="9525" cap="flat" cmpd="sng" algn="ctr">
                      <a:solidFill>
                        <a:srgbClr val="EEF0F3"/>
                      </a:solidFill>
                      <a:prstDash val="solid"/>
                      <a:round/>
                      <a:headEnd type="none" w="med" len="med"/>
                      <a:tailEnd type="none" w="med" len="med"/>
                    </a:lnR>
                    <a:lnT w="9525" cap="flat" cmpd="sng" algn="ctr">
                      <a:solidFill>
                        <a:srgbClr val="EEF0F3"/>
                      </a:solidFill>
                      <a:prstDash val="solid"/>
                      <a:round/>
                      <a:headEnd type="none" w="med" len="med"/>
                      <a:tailEnd type="none" w="med" len="med"/>
                    </a:lnT>
                    <a:lnB w="9525" cap="flat" cmpd="sng" algn="ctr">
                      <a:solidFill>
                        <a:srgbClr val="EEF0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Keeps the ADC pin under 3.3 V.</a:t>
                      </a:r>
                      <a:endParaRPr lang="en-US" sz="1500" dirty="0"/>
                    </a:p>
                  </a:txBody>
                  <a:tcPr marL="137160" marR="137160" marT="0" marB="0" anchor="ctr">
                    <a:lnL w="9525" cap="flat" cmpd="sng" algn="ctr">
                      <a:solidFill>
                        <a:srgbClr val="EEF0F3"/>
                      </a:solidFill>
                      <a:prstDash val="solid"/>
                      <a:round/>
                      <a:headEnd type="none" w="med" len="med"/>
                      <a:tailEnd type="none" w="med" len="med"/>
                    </a:lnL>
                    <a:lnR w="9525" cap="flat" cmpd="sng" algn="ctr">
                      <a:solidFill>
                        <a:srgbClr val="EEF0F3"/>
                      </a:solidFill>
                      <a:prstDash val="solid"/>
                      <a:round/>
                      <a:headEnd type="none" w="med" len="med"/>
                      <a:tailEnd type="none" w="med" len="med"/>
                    </a:lnR>
                    <a:lnT w="9525" cap="flat" cmpd="sng" algn="ctr">
                      <a:solidFill>
                        <a:srgbClr val="EEF0F3"/>
                      </a:solidFill>
                      <a:prstDash val="solid"/>
                      <a:round/>
                      <a:headEnd type="none" w="med" len="med"/>
                      <a:tailEnd type="none" w="med" len="med"/>
                    </a:lnT>
                    <a:lnB w="9525" cap="flat" cmpd="sng" algn="ctr">
                      <a:solidFill>
                        <a:srgbClr val="EEF0F3"/>
                      </a:solidFill>
                      <a:prstDash val="solid"/>
                      <a:round/>
                      <a:headEnd type="none" w="med" len="med"/>
                      <a:tailEnd type="none" w="med" len="med"/>
                    </a:lnB>
                    <a:solidFill>
                      <a:schemeClr val="bg1"/>
                    </a:solidFill>
                  </a:tcPr>
                </a:tc>
              </a:tr>
              <a:tr h="566928">
                <a:tc>
                  <a:txBody>
                    <a:bodyPr/>
                    <a:lstStyle/>
                    <a:p>
                      <a:pPr indent="0" marL="0">
                        <a:buNone/>
                      </a:pPr>
                      <a:r>
                        <a:rPr lang="en-US" sz="1500" dirty="0">
                          <a:solidFill>
                            <a:schemeClr val="tx1"/>
                          </a:solidFill>
                        </a:rPr>
                        <a:t>16×2 LCD + I2C backpack</a:t>
                      </a:r>
                      <a:endParaRPr lang="en-US" sz="1500" dirty="0"/>
                    </a:p>
                  </a:txBody>
                  <a:tcPr marL="137160" marR="137160" marT="0" marB="0" anchor="ctr">
                    <a:lnL w="9525" cap="flat" cmpd="sng" algn="ctr">
                      <a:solidFill>
                        <a:srgbClr val="EEF0F3"/>
                      </a:solidFill>
                      <a:prstDash val="solid"/>
                      <a:round/>
                      <a:headEnd type="none" w="med" len="med"/>
                      <a:tailEnd type="none" w="med" len="med"/>
                    </a:lnL>
                    <a:lnR w="9525" cap="flat" cmpd="sng" algn="ctr">
                      <a:solidFill>
                        <a:srgbClr val="EEF0F3"/>
                      </a:solidFill>
                      <a:prstDash val="solid"/>
                      <a:round/>
                      <a:headEnd type="none" w="med" len="med"/>
                      <a:tailEnd type="none" w="med" len="med"/>
                    </a:lnR>
                    <a:lnT w="9525" cap="flat" cmpd="sng" algn="ctr">
                      <a:solidFill>
                        <a:srgbClr val="EEF0F3"/>
                      </a:solidFill>
                      <a:prstDash val="solid"/>
                      <a:round/>
                      <a:headEnd type="none" w="med" len="med"/>
                      <a:tailEnd type="none" w="med" len="med"/>
                    </a:lnT>
                    <a:lnB w="9525" cap="flat" cmpd="sng" algn="ctr">
                      <a:solidFill>
                        <a:srgbClr val="EEF0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SDA → D14, SCL → D15</a:t>
                      </a:r>
                      <a:endParaRPr lang="en-US" sz="1500" dirty="0"/>
                    </a:p>
                  </a:txBody>
                  <a:tcPr marL="137160" marR="137160" marT="0" marB="0" anchor="ctr">
                    <a:lnL w="9525" cap="flat" cmpd="sng" algn="ctr">
                      <a:solidFill>
                        <a:srgbClr val="EEF0F3"/>
                      </a:solidFill>
                      <a:prstDash val="solid"/>
                      <a:round/>
                      <a:headEnd type="none" w="med" len="med"/>
                      <a:tailEnd type="none" w="med" len="med"/>
                    </a:lnL>
                    <a:lnR w="9525" cap="flat" cmpd="sng" algn="ctr">
                      <a:solidFill>
                        <a:srgbClr val="EEF0F3"/>
                      </a:solidFill>
                      <a:prstDash val="solid"/>
                      <a:round/>
                      <a:headEnd type="none" w="med" len="med"/>
                      <a:tailEnd type="none" w="med" len="med"/>
                    </a:lnR>
                    <a:lnT w="9525" cap="flat" cmpd="sng" algn="ctr">
                      <a:solidFill>
                        <a:srgbClr val="EEF0F3"/>
                      </a:solidFill>
                      <a:prstDash val="solid"/>
                      <a:round/>
                      <a:headEnd type="none" w="med" len="med"/>
                      <a:tailEnd type="none" w="med" len="med"/>
                    </a:lnT>
                    <a:lnB w="9525" cap="flat" cmpd="sng" algn="ctr">
                      <a:solidFill>
                        <a:srgbClr val="EEF0F3"/>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I2C address 0x27; only 2 data wires.</a:t>
                      </a:r>
                      <a:endParaRPr lang="en-US" sz="1500" dirty="0"/>
                    </a:p>
                  </a:txBody>
                  <a:tcPr marL="137160" marR="137160" marT="0" marB="0" anchor="ctr">
                    <a:lnL w="9525" cap="flat" cmpd="sng" algn="ctr">
                      <a:solidFill>
                        <a:srgbClr val="EEF0F3"/>
                      </a:solidFill>
                      <a:prstDash val="solid"/>
                      <a:round/>
                      <a:headEnd type="none" w="med" len="med"/>
                      <a:tailEnd type="none" w="med" len="med"/>
                    </a:lnL>
                    <a:lnR w="9525" cap="flat" cmpd="sng" algn="ctr">
                      <a:solidFill>
                        <a:srgbClr val="EEF0F3"/>
                      </a:solidFill>
                      <a:prstDash val="solid"/>
                      <a:round/>
                      <a:headEnd type="none" w="med" len="med"/>
                      <a:tailEnd type="none" w="med" len="med"/>
                    </a:lnR>
                    <a:lnT w="9525" cap="flat" cmpd="sng" algn="ctr">
                      <a:solidFill>
                        <a:srgbClr val="EEF0F3"/>
                      </a:solidFill>
                      <a:prstDash val="solid"/>
                      <a:round/>
                      <a:headEnd type="none" w="med" len="med"/>
                      <a:tailEnd type="none" w="med" len="med"/>
                    </a:lnT>
                    <a:lnB w="9525" cap="flat" cmpd="sng" algn="ctr">
                      <a:solidFill>
                        <a:srgbClr val="EEF0F3"/>
                      </a:solidFill>
                      <a:prstDash val="solid"/>
                      <a:round/>
                      <a:headEnd type="none" w="med" len="med"/>
                      <a:tailEnd type="none" w="med" len="med"/>
                    </a:lnB>
                    <a:solidFill>
                      <a:schemeClr val="bg2"/>
                    </a:solidFill>
                  </a:tcPr>
                </a:tc>
              </a:tr>
              <a:tr h="566928">
                <a:tc>
                  <a:txBody>
                    <a:bodyPr/>
                    <a:lstStyle/>
                    <a:p>
                      <a:pPr indent="0" marL="0">
                        <a:buNone/>
                      </a:pPr>
                      <a:r>
                        <a:rPr lang="en-US" sz="1500" dirty="0">
                          <a:solidFill>
                            <a:schemeClr val="tx1"/>
                          </a:solidFill>
                        </a:rPr>
                        <a:t>Passive buzzer</a:t>
                      </a:r>
                      <a:endParaRPr lang="en-US" sz="1500" dirty="0"/>
                    </a:p>
                  </a:txBody>
                  <a:tcPr marL="137160" marR="137160" marT="0" marB="0" anchor="ctr">
                    <a:lnL w="9525" cap="flat" cmpd="sng" algn="ctr">
                      <a:solidFill>
                        <a:srgbClr val="EEF0F3"/>
                      </a:solidFill>
                      <a:prstDash val="solid"/>
                      <a:round/>
                      <a:headEnd type="none" w="med" len="med"/>
                      <a:tailEnd type="none" w="med" len="med"/>
                    </a:lnL>
                    <a:lnR w="9525" cap="flat" cmpd="sng" algn="ctr">
                      <a:solidFill>
                        <a:srgbClr val="EEF0F3"/>
                      </a:solidFill>
                      <a:prstDash val="solid"/>
                      <a:round/>
                      <a:headEnd type="none" w="med" len="med"/>
                      <a:tailEnd type="none" w="med" len="med"/>
                    </a:lnR>
                    <a:lnT w="9525" cap="flat" cmpd="sng" algn="ctr">
                      <a:solidFill>
                        <a:srgbClr val="EEF0F3"/>
                      </a:solidFill>
                      <a:prstDash val="solid"/>
                      <a:round/>
                      <a:headEnd type="none" w="med" len="med"/>
                      <a:tailEnd type="none" w="med" len="med"/>
                    </a:lnT>
                    <a:lnB w="9525" cap="flat" cmpd="sng" algn="ctr">
                      <a:solidFill>
                        <a:srgbClr val="EEF0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S → D3 (PB3)</a:t>
                      </a:r>
                      <a:endParaRPr lang="en-US" sz="1500" dirty="0"/>
                    </a:p>
                  </a:txBody>
                  <a:tcPr marL="137160" marR="137160" marT="0" marB="0" anchor="ctr">
                    <a:lnL w="9525" cap="flat" cmpd="sng" algn="ctr">
                      <a:solidFill>
                        <a:srgbClr val="EEF0F3"/>
                      </a:solidFill>
                      <a:prstDash val="solid"/>
                      <a:round/>
                      <a:headEnd type="none" w="med" len="med"/>
                      <a:tailEnd type="none" w="med" len="med"/>
                    </a:lnL>
                    <a:lnR w="9525" cap="flat" cmpd="sng" algn="ctr">
                      <a:solidFill>
                        <a:srgbClr val="EEF0F3"/>
                      </a:solidFill>
                      <a:prstDash val="solid"/>
                      <a:round/>
                      <a:headEnd type="none" w="med" len="med"/>
                      <a:tailEnd type="none" w="med" len="med"/>
                    </a:lnR>
                    <a:lnT w="9525" cap="flat" cmpd="sng" algn="ctr">
                      <a:solidFill>
                        <a:srgbClr val="EEF0F3"/>
                      </a:solidFill>
                      <a:prstDash val="solid"/>
                      <a:round/>
                      <a:headEnd type="none" w="med" len="med"/>
                      <a:tailEnd type="none" w="med" len="med"/>
                    </a:lnT>
                    <a:lnB w="9525" cap="flat" cmpd="sng" algn="ctr">
                      <a:solidFill>
                        <a:srgbClr val="EEF0F3"/>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Driven by a PWM tone from timer TIM2.</a:t>
                      </a:r>
                      <a:endParaRPr lang="en-US" sz="1500" dirty="0"/>
                    </a:p>
                  </a:txBody>
                  <a:tcPr marL="137160" marR="137160" marT="0" marB="0" anchor="ctr">
                    <a:lnL w="9525" cap="flat" cmpd="sng" algn="ctr">
                      <a:solidFill>
                        <a:srgbClr val="EEF0F3"/>
                      </a:solidFill>
                      <a:prstDash val="solid"/>
                      <a:round/>
                      <a:headEnd type="none" w="med" len="med"/>
                      <a:tailEnd type="none" w="med" len="med"/>
                    </a:lnL>
                    <a:lnR w="9525" cap="flat" cmpd="sng" algn="ctr">
                      <a:solidFill>
                        <a:srgbClr val="EEF0F3"/>
                      </a:solidFill>
                      <a:prstDash val="solid"/>
                      <a:round/>
                      <a:headEnd type="none" w="med" len="med"/>
                      <a:tailEnd type="none" w="med" len="med"/>
                    </a:lnR>
                    <a:lnT w="9525" cap="flat" cmpd="sng" algn="ctr">
                      <a:solidFill>
                        <a:srgbClr val="EEF0F3"/>
                      </a:solidFill>
                      <a:prstDash val="solid"/>
                      <a:round/>
                      <a:headEnd type="none" w="med" len="med"/>
                      <a:tailEnd type="none" w="med" len="med"/>
                    </a:lnT>
                    <a:lnB w="9525" cap="flat" cmpd="sng" algn="ctr">
                      <a:solidFill>
                        <a:srgbClr val="EEF0F3"/>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5257800"/>
            <a:ext cx="11094415" cy="365760"/>
          </a:xfrm>
          <a:prstGeom prst="rect">
            <a:avLst/>
          </a:prstGeom>
          <a:noFill/>
          <a:ln/>
        </p:spPr>
        <p:txBody>
          <a:bodyPr wrap="square" lIns="0" tIns="0" rIns="0" bIns="0" rtlCol="0" anchor="t"/>
          <a:lstStyle/>
          <a:p>
            <a:pPr indent="0" marL="0">
              <a:buNone/>
            </a:pPr>
            <a:r>
              <a:rPr lang="en-US" sz="1500" i="1" dirty="0">
                <a:solidFill>
                  <a:schemeClr val="accent6"/>
                </a:solidFill>
              </a:rPr>
              <a:t>All off-the-shelf parts, wired with jumper leads: no custom PCB needed for the prototype.</a:t>
            </a:r>
            <a:endParaRPr lang="en-US" sz="15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Where we are and what's next</a:t>
            </a:r>
            <a:endParaRPr lang="en-US" sz="3600" dirty="0"/>
          </a:p>
        </p:txBody>
      </p:sp>
      <p:sp>
        <p:nvSpPr>
          <p:cNvPr id="3" name="Timeline line"/>
          <p:cNvSpPr/>
          <p:nvPr/>
        </p:nvSpPr>
        <p:spPr>
          <a:xfrm>
            <a:off x="982980" y="2286000"/>
            <a:ext cx="8320811" cy="0"/>
          </a:xfrm>
          <a:prstGeom prst="line">
            <a:avLst/>
          </a:prstGeom>
          <a:noFill/>
          <a:ln w="25400">
            <a:solidFill>
              <a:schemeClr val="accent3"/>
            </a:solidFill>
            <a:prstDash val="dash"/>
          </a:ln>
        </p:spPr>
      </p:sp>
      <p:sp>
        <p:nvSpPr>
          <p:cNvPr id="4" name="DONE circle"/>
          <p:cNvSpPr/>
          <p:nvPr/>
        </p:nvSpPr>
        <p:spPr>
          <a:xfrm>
            <a:off x="548640" y="1851660"/>
            <a:ext cx="868680" cy="868680"/>
          </a:xfrm>
          <a:prstGeom prst="ellipse">
            <a:avLst/>
          </a:prstGeom>
          <a:solidFill>
            <a:schemeClr val="accent2"/>
          </a:solidFill>
          <a:ln w="50800">
            <a:solidFill>
              <a:schemeClr val="bg1"/>
            </a:solidFill>
            <a:prstDash val="solid"/>
          </a:ln>
        </p:spPr>
      </p:sp>
      <p:pic>
        <p:nvPicPr>
          <p:cNvPr id="5" name="Image 0" descr="Firmware ready">    </p:cNvPr>
          <p:cNvPicPr>
            <a:picLocks noChangeAspect="1"/>
          </p:cNvPicPr>
          <p:nvPr/>
        </p:nvPicPr>
        <p:blipFill>
          <a:blip r:embed="rId1"/>
          <a:stretch>
            <a:fillRect/>
          </a:stretch>
        </p:blipFill>
        <p:spPr>
          <a:xfrm>
            <a:off x="783184" y="2086204"/>
            <a:ext cx="399593" cy="399593"/>
          </a:xfrm>
          <a:prstGeom prst="rect">
            <a:avLst/>
          </a:prstGeom>
        </p:spPr>
      </p:pic>
      <p:sp>
        <p:nvSpPr>
          <p:cNvPr id="6" name="Text 3"/>
          <p:cNvSpPr txBox="1"/>
          <p:nvPr/>
        </p:nvSpPr>
        <p:spPr>
          <a:xfrm>
            <a:off x="548640" y="3017520"/>
            <a:ext cx="2499284" cy="292608"/>
          </a:xfrm>
          <a:prstGeom prst="rect">
            <a:avLst/>
          </a:prstGeom>
          <a:noFill/>
          <a:ln/>
        </p:spPr>
        <p:txBody>
          <a:bodyPr wrap="square" lIns="0" tIns="0" rIns="0" bIns="0" rtlCol="0" anchor="t"/>
          <a:lstStyle/>
          <a:p>
            <a:pPr indent="0" marL="0">
              <a:buNone/>
            </a:pPr>
            <a:r>
              <a:rPr lang="en-US" sz="1400" b="1" spc="300" kern="0" dirty="0">
                <a:solidFill>
                  <a:schemeClr val="accent2"/>
                </a:solidFill>
                <a:latin typeface="+mj-lt" pitchFamily="34" charset="0"/>
                <a:ea typeface="+mj-lt" pitchFamily="34" charset="-122"/>
                <a:cs typeface="+mj-lt" pitchFamily="34" charset="-120"/>
              </a:rPr>
              <a:t>DONE</a:t>
            </a:r>
            <a:endParaRPr lang="en-US" sz="1400" dirty="0"/>
          </a:p>
        </p:txBody>
      </p:sp>
      <p:sp>
        <p:nvSpPr>
          <p:cNvPr id="7" name="Text 4"/>
          <p:cNvSpPr txBox="1"/>
          <p:nvPr/>
        </p:nvSpPr>
        <p:spPr>
          <a:xfrm>
            <a:off x="548640" y="3337560"/>
            <a:ext cx="2499284" cy="411480"/>
          </a:xfrm>
          <a:prstGeom prst="rect">
            <a:avLst/>
          </a:prstGeom>
          <a:noFill/>
          <a:ln/>
        </p:spPr>
        <p:txBody>
          <a:bodyPr wrap="square" lIns="0" tIns="0" rIns="0" bIns="0" rtlCol="0" anchor="t"/>
          <a:lstStyle/>
          <a:p>
            <a:pPr indent="0" marL="0">
              <a:buNone/>
            </a:pPr>
            <a:r>
              <a:rPr lang="en-US" sz="2100" b="1" dirty="0">
                <a:solidFill>
                  <a:schemeClr val="tx1"/>
                </a:solidFill>
                <a:latin typeface="+mj-lt" pitchFamily="34" charset="0"/>
                <a:ea typeface="+mj-lt" pitchFamily="34" charset="-122"/>
                <a:cs typeface="+mj-lt" pitchFamily="34" charset="-120"/>
              </a:rPr>
              <a:t>Firmware ready</a:t>
            </a:r>
            <a:endParaRPr lang="en-US" sz="2100" dirty="0"/>
          </a:p>
        </p:txBody>
      </p:sp>
      <p:sp>
        <p:nvSpPr>
          <p:cNvPr id="8" name="Text 5"/>
          <p:cNvSpPr txBox="1"/>
          <p:nvPr/>
        </p:nvSpPr>
        <p:spPr>
          <a:xfrm>
            <a:off x="548640" y="3840480"/>
            <a:ext cx="2499284" cy="2103120"/>
          </a:xfrm>
          <a:prstGeom prst="rect">
            <a:avLst/>
          </a:prstGeom>
          <a:noFill/>
          <a:ln/>
        </p:spPr>
        <p:txBody>
          <a:bodyPr wrap="square" lIns="0" tIns="0" rIns="0" bIns="0" rtlCol="0" anchor="t"/>
          <a:lstStyle/>
          <a:p>
            <a:pPr indent="0" marL="0">
              <a:buNone/>
            </a:pPr>
            <a:r>
              <a:rPr lang="en-US" sz="1600" dirty="0">
                <a:solidFill>
                  <a:schemeClr val="accent6"/>
                </a:solidFill>
              </a:rPr>
              <a:t>Sensing, level bar, two-level alarm and USB logging, all building cleanly.</a:t>
            </a:r>
            <a:endParaRPr lang="en-US" sz="1600" dirty="0"/>
          </a:p>
        </p:txBody>
      </p:sp>
      <p:sp>
        <p:nvSpPr>
          <p:cNvPr id="9" name="NEXT circle"/>
          <p:cNvSpPr/>
          <p:nvPr/>
        </p:nvSpPr>
        <p:spPr>
          <a:xfrm>
            <a:off x="3322244" y="1851660"/>
            <a:ext cx="868680" cy="868680"/>
          </a:xfrm>
          <a:prstGeom prst="ellipse">
            <a:avLst/>
          </a:prstGeom>
          <a:solidFill>
            <a:schemeClr val="accent1"/>
          </a:solidFill>
          <a:ln w="50800">
            <a:solidFill>
              <a:schemeClr val="bg1"/>
            </a:solidFill>
            <a:prstDash val="solid"/>
          </a:ln>
        </p:spPr>
      </p:sp>
      <p:pic>
        <p:nvPicPr>
          <p:cNvPr id="10" name="Image 1" descr="Bench test">    </p:cNvPr>
          <p:cNvPicPr>
            <a:picLocks noChangeAspect="1"/>
          </p:cNvPicPr>
          <p:nvPr/>
        </p:nvPicPr>
        <p:blipFill>
          <a:blip r:embed="rId2"/>
          <a:stretch>
            <a:fillRect/>
          </a:stretch>
        </p:blipFill>
        <p:spPr>
          <a:xfrm>
            <a:off x="3556787" y="2086204"/>
            <a:ext cx="399593" cy="399593"/>
          </a:xfrm>
          <a:prstGeom prst="rect">
            <a:avLst/>
          </a:prstGeom>
        </p:spPr>
      </p:pic>
      <p:sp>
        <p:nvSpPr>
          <p:cNvPr id="11" name="Text 7"/>
          <p:cNvSpPr txBox="1"/>
          <p:nvPr/>
        </p:nvSpPr>
        <p:spPr>
          <a:xfrm>
            <a:off x="3322244" y="3017520"/>
            <a:ext cx="2499284" cy="292608"/>
          </a:xfrm>
          <a:prstGeom prst="rect">
            <a:avLst/>
          </a:prstGeom>
          <a:noFill/>
          <a:ln/>
        </p:spPr>
        <p:txBody>
          <a:bodyPr wrap="square" lIns="0" tIns="0" rIns="0" bIns="0" rtlCol="0" anchor="t"/>
          <a:lstStyle/>
          <a:p>
            <a:pPr indent="0" marL="0">
              <a:buNone/>
            </a:pPr>
            <a:r>
              <a:rPr lang="en-US" sz="1400" b="1" spc="300" kern="0" dirty="0">
                <a:solidFill>
                  <a:schemeClr val="accent1"/>
                </a:solidFill>
                <a:latin typeface="+mj-lt" pitchFamily="34" charset="0"/>
                <a:ea typeface="+mj-lt" pitchFamily="34" charset="-122"/>
                <a:cs typeface="+mj-lt" pitchFamily="34" charset="-120"/>
              </a:rPr>
              <a:t>NEXT</a:t>
            </a:r>
            <a:endParaRPr lang="en-US" sz="1400" dirty="0"/>
          </a:p>
        </p:txBody>
      </p:sp>
      <p:sp>
        <p:nvSpPr>
          <p:cNvPr id="12" name="Text 8"/>
          <p:cNvSpPr txBox="1"/>
          <p:nvPr/>
        </p:nvSpPr>
        <p:spPr>
          <a:xfrm>
            <a:off x="3322244" y="3337560"/>
            <a:ext cx="2499284" cy="411480"/>
          </a:xfrm>
          <a:prstGeom prst="rect">
            <a:avLst/>
          </a:prstGeom>
          <a:noFill/>
          <a:ln/>
        </p:spPr>
        <p:txBody>
          <a:bodyPr wrap="square" lIns="0" tIns="0" rIns="0" bIns="0" rtlCol="0" anchor="t"/>
          <a:lstStyle/>
          <a:p>
            <a:pPr indent="0" marL="0">
              <a:buNone/>
            </a:pPr>
            <a:r>
              <a:rPr lang="en-US" sz="2100" b="1" dirty="0">
                <a:solidFill>
                  <a:schemeClr val="tx1"/>
                </a:solidFill>
                <a:latin typeface="+mj-lt" pitchFamily="34" charset="0"/>
                <a:ea typeface="+mj-lt" pitchFamily="34" charset="-122"/>
                <a:cs typeface="+mj-lt" pitchFamily="34" charset="-120"/>
              </a:rPr>
              <a:t>Bench test</a:t>
            </a:r>
            <a:endParaRPr lang="en-US" sz="2100" dirty="0"/>
          </a:p>
        </p:txBody>
      </p:sp>
      <p:sp>
        <p:nvSpPr>
          <p:cNvPr id="13" name="Text 9"/>
          <p:cNvSpPr txBox="1"/>
          <p:nvPr/>
        </p:nvSpPr>
        <p:spPr>
          <a:xfrm>
            <a:off x="3322244" y="3840480"/>
            <a:ext cx="2499284" cy="2103120"/>
          </a:xfrm>
          <a:prstGeom prst="rect">
            <a:avLst/>
          </a:prstGeom>
          <a:noFill/>
          <a:ln/>
        </p:spPr>
        <p:txBody>
          <a:bodyPr wrap="square" lIns="0" tIns="0" rIns="0" bIns="0" rtlCol="0" anchor="t"/>
          <a:lstStyle/>
          <a:p>
            <a:pPr indent="0" marL="0">
              <a:buNone/>
            </a:pPr>
            <a:r>
              <a:rPr lang="en-US" sz="1600" dirty="0">
                <a:solidFill>
                  <a:schemeClr val="accent6"/>
                </a:solidFill>
              </a:rPr>
              <a:t>Test with real smoke and gas. Set the clean-air baseline and both alarm levels.</a:t>
            </a:r>
            <a:endParaRPr lang="en-US" sz="1600" dirty="0"/>
          </a:p>
        </p:txBody>
      </p:sp>
      <p:sp>
        <p:nvSpPr>
          <p:cNvPr id="14" name="THEN circle"/>
          <p:cNvSpPr/>
          <p:nvPr/>
        </p:nvSpPr>
        <p:spPr>
          <a:xfrm>
            <a:off x="6095848" y="1851660"/>
            <a:ext cx="868680" cy="868680"/>
          </a:xfrm>
          <a:prstGeom prst="ellipse">
            <a:avLst/>
          </a:prstGeom>
          <a:solidFill>
            <a:schemeClr val="tx1"/>
          </a:solidFill>
          <a:ln w="50800">
            <a:solidFill>
              <a:schemeClr val="bg1"/>
            </a:solidFill>
            <a:prstDash val="solid"/>
          </a:ln>
        </p:spPr>
      </p:sp>
      <p:pic>
        <p:nvPicPr>
          <p:cNvPr id="15" name="Image 2" descr="Package it">    </p:cNvPr>
          <p:cNvPicPr>
            <a:picLocks noChangeAspect="1"/>
          </p:cNvPicPr>
          <p:nvPr/>
        </p:nvPicPr>
        <p:blipFill>
          <a:blip r:embed="rId3"/>
          <a:stretch>
            <a:fillRect/>
          </a:stretch>
        </p:blipFill>
        <p:spPr>
          <a:xfrm>
            <a:off x="6330391" y="2086204"/>
            <a:ext cx="399593" cy="399593"/>
          </a:xfrm>
          <a:prstGeom prst="rect">
            <a:avLst/>
          </a:prstGeom>
        </p:spPr>
      </p:pic>
      <p:sp>
        <p:nvSpPr>
          <p:cNvPr id="16" name="Text 11"/>
          <p:cNvSpPr txBox="1"/>
          <p:nvPr/>
        </p:nvSpPr>
        <p:spPr>
          <a:xfrm>
            <a:off x="6095848" y="3017520"/>
            <a:ext cx="2499284" cy="292608"/>
          </a:xfrm>
          <a:prstGeom prst="rect">
            <a:avLst/>
          </a:prstGeom>
          <a:noFill/>
          <a:ln/>
        </p:spPr>
        <p:txBody>
          <a:bodyPr wrap="square" lIns="0" tIns="0" rIns="0" bIns="0" rtlCol="0" anchor="t"/>
          <a:lstStyle/>
          <a:p>
            <a:pPr indent="0" marL="0">
              <a:buNone/>
            </a:pPr>
            <a:r>
              <a:rPr lang="en-US" sz="1400" b="1" spc="300" kern="0" dirty="0">
                <a:solidFill>
                  <a:schemeClr val="accent3"/>
                </a:solidFill>
                <a:latin typeface="+mj-lt" pitchFamily="34" charset="0"/>
                <a:ea typeface="+mj-lt" pitchFamily="34" charset="-122"/>
                <a:cs typeface="+mj-lt" pitchFamily="34" charset="-120"/>
              </a:rPr>
              <a:t>THEN</a:t>
            </a:r>
            <a:endParaRPr lang="en-US" sz="1400" dirty="0"/>
          </a:p>
        </p:txBody>
      </p:sp>
      <p:sp>
        <p:nvSpPr>
          <p:cNvPr id="17" name="Text 12"/>
          <p:cNvSpPr txBox="1"/>
          <p:nvPr/>
        </p:nvSpPr>
        <p:spPr>
          <a:xfrm>
            <a:off x="6095848" y="3337560"/>
            <a:ext cx="2499284" cy="411480"/>
          </a:xfrm>
          <a:prstGeom prst="rect">
            <a:avLst/>
          </a:prstGeom>
          <a:noFill/>
          <a:ln/>
        </p:spPr>
        <p:txBody>
          <a:bodyPr wrap="square" lIns="0" tIns="0" rIns="0" bIns="0" rtlCol="0" anchor="t"/>
          <a:lstStyle/>
          <a:p>
            <a:pPr indent="0" marL="0">
              <a:buNone/>
            </a:pPr>
            <a:r>
              <a:rPr lang="en-US" sz="2100" b="1" dirty="0">
                <a:solidFill>
                  <a:schemeClr val="tx1"/>
                </a:solidFill>
                <a:latin typeface="+mj-lt" pitchFamily="34" charset="0"/>
                <a:ea typeface="+mj-lt" pitchFamily="34" charset="-122"/>
                <a:cs typeface="+mj-lt" pitchFamily="34" charset="-120"/>
              </a:rPr>
              <a:t>Package it</a:t>
            </a:r>
            <a:endParaRPr lang="en-US" sz="2100" dirty="0"/>
          </a:p>
        </p:txBody>
      </p:sp>
      <p:sp>
        <p:nvSpPr>
          <p:cNvPr id="18" name="Text 13"/>
          <p:cNvSpPr txBox="1"/>
          <p:nvPr/>
        </p:nvSpPr>
        <p:spPr>
          <a:xfrm>
            <a:off x="6095848" y="3840480"/>
            <a:ext cx="2499284" cy="2103120"/>
          </a:xfrm>
          <a:prstGeom prst="rect">
            <a:avLst/>
          </a:prstGeom>
          <a:noFill/>
          <a:ln/>
        </p:spPr>
        <p:txBody>
          <a:bodyPr wrap="square" lIns="0" tIns="0" rIns="0" bIns="0" rtlCol="0" anchor="t"/>
          <a:lstStyle/>
          <a:p>
            <a:pPr indent="0" marL="0">
              <a:buNone/>
            </a:pPr>
            <a:r>
              <a:rPr lang="en-US" sz="1600" dirty="0">
                <a:solidFill>
                  <a:schemeClr val="accent6"/>
                </a:solidFill>
              </a:rPr>
              <a:t>A case and a USB power supply. Set the BOOT0 option so it starts on its own at power-up.</a:t>
            </a:r>
            <a:endParaRPr lang="en-US" sz="1600" dirty="0"/>
          </a:p>
        </p:txBody>
      </p:sp>
      <p:sp>
        <p:nvSpPr>
          <p:cNvPr id="19" name="LATER circle"/>
          <p:cNvSpPr/>
          <p:nvPr/>
        </p:nvSpPr>
        <p:spPr>
          <a:xfrm>
            <a:off x="8869451" y="1851660"/>
            <a:ext cx="868680" cy="868680"/>
          </a:xfrm>
          <a:prstGeom prst="ellipse">
            <a:avLst/>
          </a:prstGeom>
          <a:solidFill>
            <a:schemeClr val="tx1"/>
          </a:solidFill>
          <a:ln w="50800">
            <a:solidFill>
              <a:schemeClr val="bg1"/>
            </a:solidFill>
            <a:prstDash val="solid"/>
          </a:ln>
        </p:spPr>
      </p:sp>
      <p:pic>
        <p:nvPicPr>
          <p:cNvPr id="20" name="Image 3" descr="Grow it">    </p:cNvPr>
          <p:cNvPicPr>
            <a:picLocks noChangeAspect="1"/>
          </p:cNvPicPr>
          <p:nvPr/>
        </p:nvPicPr>
        <p:blipFill>
          <a:blip r:embed="rId4"/>
          <a:stretch>
            <a:fillRect/>
          </a:stretch>
        </p:blipFill>
        <p:spPr>
          <a:xfrm>
            <a:off x="9103995" y="2086204"/>
            <a:ext cx="399593" cy="399593"/>
          </a:xfrm>
          <a:prstGeom prst="rect">
            <a:avLst/>
          </a:prstGeom>
        </p:spPr>
      </p:pic>
      <p:sp>
        <p:nvSpPr>
          <p:cNvPr id="21" name="Text 15"/>
          <p:cNvSpPr txBox="1"/>
          <p:nvPr/>
        </p:nvSpPr>
        <p:spPr>
          <a:xfrm>
            <a:off x="8869451" y="3017520"/>
            <a:ext cx="2499284" cy="292608"/>
          </a:xfrm>
          <a:prstGeom prst="rect">
            <a:avLst/>
          </a:prstGeom>
          <a:noFill/>
          <a:ln/>
        </p:spPr>
        <p:txBody>
          <a:bodyPr wrap="square" lIns="0" tIns="0" rIns="0" bIns="0" rtlCol="0" anchor="t"/>
          <a:lstStyle/>
          <a:p>
            <a:pPr indent="0" marL="0">
              <a:buNone/>
            </a:pPr>
            <a:r>
              <a:rPr lang="en-US" sz="1400" b="1" spc="300" kern="0" dirty="0">
                <a:solidFill>
                  <a:schemeClr val="accent3"/>
                </a:solidFill>
                <a:latin typeface="+mj-lt" pitchFamily="34" charset="0"/>
                <a:ea typeface="+mj-lt" pitchFamily="34" charset="-122"/>
                <a:cs typeface="+mj-lt" pitchFamily="34" charset="-120"/>
              </a:rPr>
              <a:t>LATER</a:t>
            </a:r>
            <a:endParaRPr lang="en-US" sz="1400" dirty="0"/>
          </a:p>
        </p:txBody>
      </p:sp>
      <p:sp>
        <p:nvSpPr>
          <p:cNvPr id="22" name="Text 16"/>
          <p:cNvSpPr txBox="1"/>
          <p:nvPr/>
        </p:nvSpPr>
        <p:spPr>
          <a:xfrm>
            <a:off x="8869451" y="3337560"/>
            <a:ext cx="2499284" cy="411480"/>
          </a:xfrm>
          <a:prstGeom prst="rect">
            <a:avLst/>
          </a:prstGeom>
          <a:noFill/>
          <a:ln/>
        </p:spPr>
        <p:txBody>
          <a:bodyPr wrap="square" lIns="0" tIns="0" rIns="0" bIns="0" rtlCol="0" anchor="t"/>
          <a:lstStyle/>
          <a:p>
            <a:pPr indent="0" marL="0">
              <a:buNone/>
            </a:pPr>
            <a:r>
              <a:rPr lang="en-US" sz="2100" b="1" dirty="0">
                <a:solidFill>
                  <a:schemeClr val="tx1"/>
                </a:solidFill>
                <a:latin typeface="+mj-lt" pitchFamily="34" charset="0"/>
                <a:ea typeface="+mj-lt" pitchFamily="34" charset="-122"/>
                <a:cs typeface="+mj-lt" pitchFamily="34" charset="-120"/>
              </a:rPr>
              <a:t>Grow it</a:t>
            </a:r>
            <a:endParaRPr lang="en-US" sz="2100" dirty="0"/>
          </a:p>
        </p:txBody>
      </p:sp>
      <p:sp>
        <p:nvSpPr>
          <p:cNvPr id="23" name="Text 17"/>
          <p:cNvSpPr txBox="1"/>
          <p:nvPr/>
        </p:nvSpPr>
        <p:spPr>
          <a:xfrm>
            <a:off x="8869451" y="3840480"/>
            <a:ext cx="2499284" cy="2103120"/>
          </a:xfrm>
          <a:prstGeom prst="rect">
            <a:avLst/>
          </a:prstGeom>
          <a:noFill/>
          <a:ln/>
        </p:spPr>
        <p:txBody>
          <a:bodyPr wrap="square" lIns="0" tIns="0" rIns="0" bIns="0" rtlCol="0" anchor="t"/>
          <a:lstStyle/>
          <a:p>
            <a:pPr indent="0" marL="0">
              <a:buNone/>
            </a:pPr>
            <a:r>
              <a:rPr lang="en-US" sz="1600" dirty="0">
                <a:solidFill>
                  <a:schemeClr val="accent6"/>
                </a:solidFill>
              </a:rPr>
              <a:t>Phone alerts through a Wi-Fi or Bluetooth add-on, a red/green status LED, more sensors.</a:t>
            </a:r>
            <a:endParaRPr lang="en-US"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640080"/>
            <a:ext cx="11094415" cy="868680"/>
          </a:xfrm>
          <a:prstGeom prst="rect">
            <a:avLst/>
          </a:prstGeom>
          <a:noFill/>
          <a:ln/>
        </p:spPr>
        <p:txBody>
          <a:bodyPr wrap="square" lIns="0" tIns="0" rIns="0" bIns="0" rtlCol="0" anchor="ctr"/>
          <a:lstStyle/>
          <a:p>
            <a:pPr algn="l" indent="0" marL="0">
              <a:buNone/>
            </a:pPr>
            <a:r>
              <a:rPr lang="en-US" sz="4400" b="1" dirty="0">
                <a:solidFill>
                  <a:schemeClr val="bg1"/>
                </a:solidFill>
              </a:rPr>
              <a:t>Thank you</a:t>
            </a:r>
            <a:endParaRPr lang="en-US" sz="4400" dirty="0"/>
          </a:p>
        </p:txBody>
      </p:sp>
      <p:sp>
        <p:nvSpPr>
          <p:cNvPr id="3" name="Text 0"/>
          <p:cNvSpPr/>
          <p:nvPr>
            <p:ph idx="101" type="body" hasCustomPrompt="1"/>
          </p:nvPr>
        </p:nvSpPr>
        <p:spPr>
          <a:xfrm>
            <a:off x="548640" y="1554480"/>
            <a:ext cx="11094415" cy="457200"/>
          </a:xfrm>
          <a:prstGeom prst="rect">
            <a:avLst/>
          </a:prstGeom>
          <a:noFill/>
          <a:ln/>
        </p:spPr>
        <p:txBody>
          <a:bodyPr wrap="square" lIns="0" tIns="0" rIns="0" bIns="0" rtlCol="0" anchor="t"/>
          <a:lstStyle/>
          <a:p>
            <a:pPr indent="0" marL="0">
              <a:buNone/>
            </a:pPr>
            <a:r>
              <a:rPr lang="en-US" sz="2000" dirty="0">
                <a:solidFill>
                  <a:schemeClr val="accent3"/>
                </a:solidFill>
              </a:rPr>
              <a:t>Smoke &amp; Gas Monitor: sense it, show it, sound the alarm.</a:t>
            </a:r>
            <a:endParaRPr lang="en-US" sz="2000" dirty="0"/>
          </a:p>
        </p:txBody>
      </p:sp>
      <p:sp>
        <p:nvSpPr>
          <p:cNvPr id="4" name="Ready to demo card"/>
          <p:cNvSpPr/>
          <p:nvPr/>
        </p:nvSpPr>
        <p:spPr>
          <a:xfrm>
            <a:off x="548640" y="2240280"/>
            <a:ext cx="3515258" cy="2240280"/>
          </a:xfrm>
          <a:prstGeom prst="roundRect">
            <a:avLst>
              <a:gd name="adj" fmla="val 6122"/>
            </a:avLst>
          </a:prstGeom>
          <a:solidFill>
            <a:schemeClr val="tx2"/>
          </a:solidFill>
          <a:ln/>
        </p:spPr>
      </p:sp>
      <p:sp>
        <p:nvSpPr>
          <p:cNvPr id="5" name="Icon tile FaCircleCheck"/>
          <p:cNvSpPr/>
          <p:nvPr/>
        </p:nvSpPr>
        <p:spPr>
          <a:xfrm>
            <a:off x="822960" y="2514600"/>
            <a:ext cx="685800" cy="685800"/>
          </a:xfrm>
          <a:prstGeom prst="roundRect">
            <a:avLst>
              <a:gd name="adj" fmla="val 22000"/>
            </a:avLst>
          </a:prstGeom>
          <a:solidFill>
            <a:schemeClr val="tx1"/>
          </a:solidFill>
          <a:ln/>
        </p:spPr>
      </p:sp>
      <p:pic>
        <p:nvPicPr>
          <p:cNvPr id="6" name="Image 0" descr="FaCircleCheck">    </p:cNvPr>
          <p:cNvPicPr>
            <a:picLocks noChangeAspect="1"/>
          </p:cNvPicPr>
          <p:nvPr/>
        </p:nvPicPr>
        <p:blipFill>
          <a:blip r:embed="rId1"/>
          <a:stretch>
            <a:fillRect/>
          </a:stretch>
        </p:blipFill>
        <p:spPr>
          <a:xfrm>
            <a:off x="987552" y="2679192"/>
            <a:ext cx="356616" cy="356616"/>
          </a:xfrm>
          <a:prstGeom prst="rect">
            <a:avLst/>
          </a:prstGeom>
        </p:spPr>
      </p:pic>
      <p:sp>
        <p:nvSpPr>
          <p:cNvPr id="7" name="Text 4"/>
          <p:cNvSpPr txBox="1"/>
          <p:nvPr/>
        </p:nvSpPr>
        <p:spPr>
          <a:xfrm>
            <a:off x="1691640" y="2587752"/>
            <a:ext cx="2189378" cy="548640"/>
          </a:xfrm>
          <a:prstGeom prst="rect">
            <a:avLst/>
          </a:prstGeom>
          <a:noFill/>
          <a:ln/>
        </p:spPr>
        <p:txBody>
          <a:bodyPr wrap="square" lIns="0" tIns="0" rIns="0" bIns="0" rtlCol="0" anchor="ctr"/>
          <a:lstStyle/>
          <a:p>
            <a:pPr indent="0" marL="0">
              <a:buNone/>
            </a:pPr>
            <a:r>
              <a:rPr lang="en-US" sz="2100" b="1" dirty="0">
                <a:solidFill>
                  <a:schemeClr val="bg1"/>
                </a:solidFill>
                <a:latin typeface="+mj-lt" pitchFamily="34" charset="0"/>
                <a:ea typeface="+mj-lt" pitchFamily="34" charset="-122"/>
                <a:cs typeface="+mj-lt" pitchFamily="34" charset="-120"/>
              </a:rPr>
              <a:t>Ready to demo</a:t>
            </a:r>
            <a:endParaRPr lang="en-US" sz="2100" dirty="0"/>
          </a:p>
        </p:txBody>
      </p:sp>
      <p:sp>
        <p:nvSpPr>
          <p:cNvPr id="8" name="Text 5"/>
          <p:cNvSpPr txBox="1"/>
          <p:nvPr/>
        </p:nvSpPr>
        <p:spPr>
          <a:xfrm>
            <a:off x="822960" y="3429000"/>
            <a:ext cx="2966618" cy="914400"/>
          </a:xfrm>
          <a:prstGeom prst="rect">
            <a:avLst/>
          </a:prstGeom>
          <a:noFill/>
          <a:ln/>
        </p:spPr>
        <p:txBody>
          <a:bodyPr wrap="square" lIns="0" tIns="0" rIns="0" bIns="0" rtlCol="0" anchor="t"/>
          <a:lstStyle/>
          <a:p>
            <a:pPr indent="0" marL="0">
              <a:buNone/>
            </a:pPr>
            <a:r>
              <a:rPr lang="en-US" sz="1600" dirty="0">
                <a:solidFill>
                  <a:schemeClr val="accent3"/>
                </a:solidFill>
              </a:rPr>
              <a:t>Sensing, level bar, two-level alarm and live logging on one Nucleo board.</a:t>
            </a:r>
            <a:endParaRPr lang="en-US" sz="1600" dirty="0"/>
          </a:p>
        </p:txBody>
      </p:sp>
      <p:sp>
        <p:nvSpPr>
          <p:cNvPr id="9" name="Early warning card"/>
          <p:cNvSpPr/>
          <p:nvPr/>
        </p:nvSpPr>
        <p:spPr>
          <a:xfrm>
            <a:off x="4338218" y="2240280"/>
            <a:ext cx="3515258" cy="2240280"/>
          </a:xfrm>
          <a:prstGeom prst="roundRect">
            <a:avLst>
              <a:gd name="adj" fmla="val 6122"/>
            </a:avLst>
          </a:prstGeom>
          <a:solidFill>
            <a:schemeClr val="tx2"/>
          </a:solidFill>
          <a:ln/>
        </p:spPr>
      </p:sp>
      <p:sp>
        <p:nvSpPr>
          <p:cNvPr id="10" name="Icon tile FaGaugeHigh"/>
          <p:cNvSpPr/>
          <p:nvPr/>
        </p:nvSpPr>
        <p:spPr>
          <a:xfrm>
            <a:off x="4612538" y="2514600"/>
            <a:ext cx="685800" cy="685800"/>
          </a:xfrm>
          <a:prstGeom prst="roundRect">
            <a:avLst>
              <a:gd name="adj" fmla="val 22000"/>
            </a:avLst>
          </a:prstGeom>
          <a:solidFill>
            <a:schemeClr val="tx1"/>
          </a:solidFill>
          <a:ln/>
        </p:spPr>
      </p:sp>
      <p:pic>
        <p:nvPicPr>
          <p:cNvPr id="11" name="Image 1" descr="FaGaugeHigh">    </p:cNvPr>
          <p:cNvPicPr>
            <a:picLocks noChangeAspect="1"/>
          </p:cNvPicPr>
          <p:nvPr/>
        </p:nvPicPr>
        <p:blipFill>
          <a:blip r:embed="rId2"/>
          <a:stretch>
            <a:fillRect/>
          </a:stretch>
        </p:blipFill>
        <p:spPr>
          <a:xfrm>
            <a:off x="4777130" y="2679192"/>
            <a:ext cx="356616" cy="356616"/>
          </a:xfrm>
          <a:prstGeom prst="rect">
            <a:avLst/>
          </a:prstGeom>
        </p:spPr>
      </p:pic>
      <p:sp>
        <p:nvSpPr>
          <p:cNvPr id="12" name="Text 8"/>
          <p:cNvSpPr txBox="1"/>
          <p:nvPr/>
        </p:nvSpPr>
        <p:spPr>
          <a:xfrm>
            <a:off x="5481218" y="2587752"/>
            <a:ext cx="2189378" cy="548640"/>
          </a:xfrm>
          <a:prstGeom prst="rect">
            <a:avLst/>
          </a:prstGeom>
          <a:noFill/>
          <a:ln/>
        </p:spPr>
        <p:txBody>
          <a:bodyPr wrap="square" lIns="0" tIns="0" rIns="0" bIns="0" rtlCol="0" anchor="ctr"/>
          <a:lstStyle/>
          <a:p>
            <a:pPr indent="0" marL="0">
              <a:buNone/>
            </a:pPr>
            <a:r>
              <a:rPr lang="en-US" sz="2100" b="1" dirty="0">
                <a:solidFill>
                  <a:schemeClr val="bg1"/>
                </a:solidFill>
                <a:latin typeface="+mj-lt" pitchFamily="34" charset="0"/>
                <a:ea typeface="+mj-lt" pitchFamily="34" charset="-122"/>
                <a:cs typeface="+mj-lt" pitchFamily="34" charset="-120"/>
              </a:rPr>
              <a:t>Early warning</a:t>
            </a:r>
            <a:endParaRPr lang="en-US" sz="2100" dirty="0"/>
          </a:p>
        </p:txBody>
      </p:sp>
      <p:sp>
        <p:nvSpPr>
          <p:cNvPr id="13" name="Text 9"/>
          <p:cNvSpPr txBox="1"/>
          <p:nvPr/>
        </p:nvSpPr>
        <p:spPr>
          <a:xfrm>
            <a:off x="4612538" y="3429000"/>
            <a:ext cx="2966618" cy="914400"/>
          </a:xfrm>
          <a:prstGeom prst="rect">
            <a:avLst/>
          </a:prstGeom>
          <a:noFill/>
          <a:ln/>
        </p:spPr>
        <p:txBody>
          <a:bodyPr wrap="square" lIns="0" tIns="0" rIns="0" bIns="0" rtlCol="0" anchor="t"/>
          <a:lstStyle/>
          <a:p>
            <a:pPr indent="0" marL="0">
              <a:buNone/>
            </a:pPr>
            <a:r>
              <a:rPr lang="en-US" sz="1600" dirty="0">
                <a:solidFill>
                  <a:schemeClr val="accent3"/>
                </a:solidFill>
              </a:rPr>
              <a:t>Shows the air getting worse, not just when it's already too late.</a:t>
            </a:r>
            <a:endParaRPr lang="en-US" sz="1600" dirty="0"/>
          </a:p>
        </p:txBody>
      </p:sp>
      <p:sp>
        <p:nvSpPr>
          <p:cNvPr id="14" name="Built to grow card"/>
          <p:cNvSpPr/>
          <p:nvPr/>
        </p:nvSpPr>
        <p:spPr>
          <a:xfrm>
            <a:off x="8127797" y="2240280"/>
            <a:ext cx="3515258" cy="2240280"/>
          </a:xfrm>
          <a:prstGeom prst="roundRect">
            <a:avLst>
              <a:gd name="adj" fmla="val 6122"/>
            </a:avLst>
          </a:prstGeom>
          <a:solidFill>
            <a:schemeClr val="tx2"/>
          </a:solidFill>
          <a:ln/>
        </p:spPr>
      </p:sp>
      <p:sp>
        <p:nvSpPr>
          <p:cNvPr id="15" name="Icon tile FaPuzzlePiece"/>
          <p:cNvSpPr/>
          <p:nvPr/>
        </p:nvSpPr>
        <p:spPr>
          <a:xfrm>
            <a:off x="8402117" y="2514600"/>
            <a:ext cx="685800" cy="685800"/>
          </a:xfrm>
          <a:prstGeom prst="roundRect">
            <a:avLst>
              <a:gd name="adj" fmla="val 22000"/>
            </a:avLst>
          </a:prstGeom>
          <a:solidFill>
            <a:schemeClr val="tx1"/>
          </a:solidFill>
          <a:ln/>
        </p:spPr>
      </p:sp>
      <p:pic>
        <p:nvPicPr>
          <p:cNvPr id="16" name="Image 2" descr="FaPuzzlePiece">    </p:cNvPr>
          <p:cNvPicPr>
            <a:picLocks noChangeAspect="1"/>
          </p:cNvPicPr>
          <p:nvPr/>
        </p:nvPicPr>
        <p:blipFill>
          <a:blip r:embed="rId3"/>
          <a:stretch>
            <a:fillRect/>
          </a:stretch>
        </p:blipFill>
        <p:spPr>
          <a:xfrm>
            <a:off x="8566709" y="2679192"/>
            <a:ext cx="356616" cy="356616"/>
          </a:xfrm>
          <a:prstGeom prst="rect">
            <a:avLst/>
          </a:prstGeom>
        </p:spPr>
      </p:pic>
      <p:sp>
        <p:nvSpPr>
          <p:cNvPr id="17" name="Text 12"/>
          <p:cNvSpPr txBox="1"/>
          <p:nvPr/>
        </p:nvSpPr>
        <p:spPr>
          <a:xfrm>
            <a:off x="9270797" y="2587752"/>
            <a:ext cx="2189378" cy="548640"/>
          </a:xfrm>
          <a:prstGeom prst="rect">
            <a:avLst/>
          </a:prstGeom>
          <a:noFill/>
          <a:ln/>
        </p:spPr>
        <p:txBody>
          <a:bodyPr wrap="square" lIns="0" tIns="0" rIns="0" bIns="0" rtlCol="0" anchor="ctr"/>
          <a:lstStyle/>
          <a:p>
            <a:pPr indent="0" marL="0">
              <a:buNone/>
            </a:pPr>
            <a:r>
              <a:rPr lang="en-US" sz="2100" b="1" dirty="0">
                <a:solidFill>
                  <a:schemeClr val="bg1"/>
                </a:solidFill>
                <a:latin typeface="+mj-lt" pitchFamily="34" charset="0"/>
                <a:ea typeface="+mj-lt" pitchFamily="34" charset="-122"/>
                <a:cs typeface="+mj-lt" pitchFamily="34" charset="-120"/>
              </a:rPr>
              <a:t>Built to grow</a:t>
            </a:r>
            <a:endParaRPr lang="en-US" sz="2100" dirty="0"/>
          </a:p>
        </p:txBody>
      </p:sp>
      <p:sp>
        <p:nvSpPr>
          <p:cNvPr id="18" name="Text 13"/>
          <p:cNvSpPr txBox="1"/>
          <p:nvPr/>
        </p:nvSpPr>
        <p:spPr>
          <a:xfrm>
            <a:off x="8402117" y="3429000"/>
            <a:ext cx="2966618" cy="914400"/>
          </a:xfrm>
          <a:prstGeom prst="rect">
            <a:avLst/>
          </a:prstGeom>
          <a:noFill/>
          <a:ln/>
        </p:spPr>
        <p:txBody>
          <a:bodyPr wrap="square" lIns="0" tIns="0" rIns="0" bIns="0" rtlCol="0" anchor="t"/>
          <a:lstStyle/>
          <a:p>
            <a:pPr indent="0" marL="0">
              <a:buNone/>
            </a:pPr>
            <a:r>
              <a:rPr lang="en-US" sz="1600" dirty="0">
                <a:solidFill>
                  <a:schemeClr val="accent3"/>
                </a:solidFill>
              </a:rPr>
              <a:t>Modular drivers and under 7% of the flash used: room for much more.</a:t>
            </a:r>
            <a:endParaRPr lang="en-US" sz="1600" dirty="0"/>
          </a:p>
        </p:txBody>
      </p:sp>
      <p:sp>
        <p:nvSpPr>
          <p:cNvPr id="19" name="Closing LCD frame"/>
          <p:cNvSpPr/>
          <p:nvPr/>
        </p:nvSpPr>
        <p:spPr>
          <a:xfrm>
            <a:off x="4404208" y="4846320"/>
            <a:ext cx="3383280" cy="1393444"/>
          </a:xfrm>
          <a:prstGeom prst="roundRect">
            <a:avLst>
              <a:gd name="adj" fmla="val 7875"/>
            </a:avLst>
          </a:prstGeom>
          <a:solidFill>
            <a:schemeClr val="tx2"/>
          </a:solidFill>
          <a:ln/>
          <a:effectLst>
            <a:outerShdw sx="100000" sy="100000" kx="0" ky="0" algn="bl" rotWithShape="0" blurRad="76200" dist="25400" dir="5400000">
              <a:srgbClr val="000000">
                <a:alpha val="12000"/>
              </a:srgbClr>
            </a:outerShdw>
          </a:effectLst>
        </p:spPr>
      </p:sp>
      <p:sp>
        <p:nvSpPr>
          <p:cNvPr id="20" name="Closing LCD glass"/>
          <p:cNvSpPr/>
          <p:nvPr/>
        </p:nvSpPr>
        <p:spPr>
          <a:xfrm>
            <a:off x="4541368" y="4983480"/>
            <a:ext cx="3108960" cy="1119124"/>
          </a:xfrm>
          <a:prstGeom prst="rect">
            <a:avLst/>
          </a:prstGeom>
          <a:solidFill>
            <a:schemeClr val="accent4"/>
          </a:solidFill>
          <a:ln/>
        </p:spPr>
      </p:sp>
      <p:sp>
        <p:nvSpPr>
          <p:cNvPr id="21" name="Closing LCD line 1"/>
          <p:cNvSpPr txBox="1"/>
          <p:nvPr/>
        </p:nvSpPr>
        <p:spPr>
          <a:xfrm>
            <a:off x="4724248" y="5166360"/>
            <a:ext cx="2819400" cy="349250"/>
          </a:xfrm>
          <a:prstGeom prst="rect">
            <a:avLst/>
          </a:prstGeom>
          <a:noFill/>
          <a:ln/>
        </p:spPr>
        <p:txBody>
          <a:bodyPr wrap="none" lIns="0" tIns="0" rIns="0" bIns="0" rtlCol="0" anchor="ctr"/>
          <a:lstStyle/>
          <a:p>
            <a:pPr indent="0" marL="0">
              <a:buNone/>
            </a:pPr>
            <a:r>
              <a:rPr lang="en-US" sz="2200" dirty="0">
                <a:solidFill>
                  <a:schemeClr val="bg1"/>
                </a:solidFill>
                <a:latin typeface="Courier New" pitchFamily="34" charset="0"/>
                <a:ea typeface="Courier New" pitchFamily="34" charset="-122"/>
                <a:cs typeface="Courier New" pitchFamily="34" charset="-120"/>
              </a:rPr>
              <a:t>BIU Racing</a:t>
            </a:r>
            <a:endParaRPr lang="en-US" sz="2200" dirty="0"/>
          </a:p>
        </p:txBody>
      </p:sp>
      <p:sp>
        <p:nvSpPr>
          <p:cNvPr id="22" name="Closing LCD line 2"/>
          <p:cNvSpPr txBox="1"/>
          <p:nvPr/>
        </p:nvSpPr>
        <p:spPr>
          <a:xfrm>
            <a:off x="4724248" y="5570474"/>
            <a:ext cx="2819400" cy="349250"/>
          </a:xfrm>
          <a:prstGeom prst="rect">
            <a:avLst/>
          </a:prstGeom>
          <a:noFill/>
          <a:ln/>
        </p:spPr>
        <p:txBody>
          <a:bodyPr wrap="none" lIns="0" tIns="0" rIns="0" bIns="0" rtlCol="0" anchor="ctr"/>
          <a:lstStyle/>
          <a:p>
            <a:pPr indent="0" marL="0">
              <a:buNone/>
            </a:pPr>
            <a:r>
              <a:rPr lang="en-US" sz="2200" dirty="0">
                <a:solidFill>
                  <a:schemeClr val="bg1"/>
                </a:solidFill>
                <a:latin typeface="Courier New" pitchFamily="34" charset="0"/>
                <a:ea typeface="Courier New" pitchFamily="34" charset="-122"/>
                <a:cs typeface="Courier New" pitchFamily="34" charset="-120"/>
              </a:rPr>
              <a:t>Questions?</a:t>
            </a:r>
            <a:endParaRPr lang="en-US" sz="2200" dirty="0"/>
          </a:p>
        </p:txBody>
      </p:sp>
    </p:spTree>
  </p:cSld>
  <p:clrMapOvr>
    <a:masterClrMapping/>
  </p:clrMapOvr>
</p:sld>
</file>

<file path=ppt/theme/theme1.xml><?xml version="1.0" encoding="utf-8"?>
<a:theme xmlns:a="http://schemas.openxmlformats.org/drawingml/2006/main" name="BIU Racing Smoke Monitor">
  <a:themeElements>
    <a:clrScheme name="BIU Racing Smoke Monitor">
      <a:dk1>
        <a:srgbClr val="16181D"/>
      </a:dk1>
      <a:lt1>
        <a:srgbClr val="FFFFFF"/>
      </a:lt1>
      <a:dk2>
        <a:srgbClr val="2B2F36"/>
      </a:dk2>
      <a:lt2>
        <a:srgbClr val="EEF0F3"/>
      </a:lt2>
      <a:accent1>
        <a:srgbClr val="F2542D"/>
      </a:accent1>
      <a:accent2>
        <a:srgbClr val="2BB673"/>
      </a:accent2>
      <a:accent3>
        <a:srgbClr val="8A929C"/>
      </a:accent3>
      <a:accent4>
        <a:srgbClr val="1F5FD1"/>
      </a:accent4>
      <a:accent5>
        <a:srgbClr val="F5B700"/>
      </a:accent5>
      <a:accent6>
        <a:srgbClr val="5B6470"/>
      </a:accent6>
      <a:hlink>
        <a:srgbClr val="1F5FD1"/>
      </a:hlink>
      <a:folHlink>
        <a:srgbClr val="8A929C"/>
      </a:folHlink>
    </a:clrScheme>
    <a:fontScheme name="BIU Racing Smoke Monito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Smoke &amp; Gas Monitor - Hackathon Pitch</dc:title>
  <dc:subject>PptxGenJS Presentation</dc:subject>
  <dc:creator>BIU Racing</dc:creator>
  <cp:lastModifiedBy>BIU Racing</cp:lastModifiedBy>
  <cp:revision>1</cp:revision>
  <dcterms:created xsi:type="dcterms:W3CDTF">2026-10-20T13:00:21Z</dcterms:created>
  <dcterms:modified xsi:type="dcterms:W3CDTF">2026-10-20T13:00:21Z</dcterms:modified>
</cp:coreProperties>
</file>